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  <p:sldMasterId id="2147483665" r:id="rId4"/>
  </p:sldMasterIdLst>
  <p:notesMasterIdLst>
    <p:notesMasterId r:id="rId6"/>
  </p:notesMasterIdLst>
  <p:sldIdLst>
    <p:sldId id="260" r:id="rId5"/>
    <p:sldId id="3391" r:id="rId7"/>
    <p:sldId id="3374" r:id="rId8"/>
    <p:sldId id="3392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D6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7"/>
    <p:restoredTop sz="94685"/>
  </p:normalViewPr>
  <p:slideViewPr>
    <p:cSldViewPr snapToGrid="0">
      <p:cViewPr varScale="1">
        <p:scale>
          <a:sx n="98" d="100"/>
          <a:sy n="98" d="100"/>
        </p:scale>
        <p:origin x="200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B0454E-8F0E-B248-810C-88AD40D5C3C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D2C3F-6024-0E43-9BAD-0709E6FE5B2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D340F-4306-4E07-8B6C-D980564E032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rPr>
              <a:t>23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F277F-1FF8-7446-B621-699D9FC7B30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A3B0-D8C1-CF4A-AA07-D71A803AAB7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F277F-1FF8-7446-B621-699D9FC7B30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A3B0-D8C1-CF4A-AA07-D71A803AAB7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F277F-1FF8-7446-B621-699D9FC7B30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A3B0-D8C1-CF4A-AA07-D71A803AAB7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F277F-1FF8-7446-B621-699D9FC7B30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A3B0-D8C1-CF4A-AA07-D71A803AAB7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F277F-1FF8-7446-B621-699D9FC7B30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A3B0-D8C1-CF4A-AA07-D71A803AAB7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F277F-1FF8-7446-B621-699D9FC7B30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A3B0-D8C1-CF4A-AA07-D71A803AAB7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F277F-1FF8-7446-B621-699D9FC7B30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A3B0-D8C1-CF4A-AA07-D71A803AAB7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F277F-1FF8-7446-B621-699D9FC7B30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A3B0-D8C1-CF4A-AA07-D71A803AAB7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F277F-1FF8-7446-B621-699D9FC7B30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A3B0-D8C1-CF4A-AA07-D71A803AAB7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F277F-1FF8-7446-B621-699D9FC7B30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A3B0-D8C1-CF4A-AA07-D71A803AAB7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F277F-1FF8-7446-B621-699D9FC7B30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A3B0-D8C1-CF4A-AA07-D71A803AAB7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135"/>
            </a:lvl2pPr>
            <a:lvl3pPr marL="914400" indent="0" algn="ctr">
              <a:buNone/>
              <a:defRPr sz="1865"/>
            </a:lvl3pPr>
            <a:lvl4pPr marL="1371600" indent="0" algn="ctr">
              <a:buNone/>
              <a:defRPr sz="1465"/>
            </a:lvl4pPr>
            <a:lvl5pPr marL="1828800" indent="0" algn="ctr">
              <a:buNone/>
              <a:defRPr sz="1465"/>
            </a:lvl5pPr>
            <a:lvl6pPr marL="2286000" indent="0" algn="ctr">
              <a:buNone/>
              <a:defRPr sz="1465"/>
            </a:lvl6pPr>
            <a:lvl7pPr marL="2743200" indent="0" algn="ctr">
              <a:buNone/>
              <a:defRPr sz="1465"/>
            </a:lvl7pPr>
            <a:lvl8pPr marL="3200400" indent="0" algn="ctr">
              <a:buNone/>
              <a:defRPr sz="1465"/>
            </a:lvl8pPr>
            <a:lvl9pPr marL="3657600" indent="0" algn="ctr">
              <a:buNone/>
              <a:defRPr sz="1465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94623-821B-3544-BA2C-361AC76C2762}" type="datetime1">
              <a:rPr lang="en-US" altLang="zh-CN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数据来源：</a:t>
            </a:r>
            <a:r>
              <a:rPr lang="en-US" altLang="zh-CN"/>
              <a:t>Yahoo Finance</a:t>
            </a:r>
            <a:r>
              <a:rPr lang="zh-CN" altLang="en-US"/>
              <a:t>、谷歌；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C0CA1-3571-4BD4-9253-723F5D1C3D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CF4E7-5F99-6F4A-AFFC-B70C91B8B217}" type="datetime1">
              <a:rPr lang="en-US" altLang="zh-CN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数据来源：</a:t>
            </a:r>
            <a:r>
              <a:rPr lang="en-US" altLang="zh-CN"/>
              <a:t>Yahoo Finance</a:t>
            </a:r>
            <a:r>
              <a:rPr lang="zh-CN" altLang="en-US"/>
              <a:t>、谷歌；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C0CA1-3571-4BD4-9253-723F5D1C3D94}" type="slidenum">
              <a:rPr lang="zh-CN" altLang="en-US" smtClean="0"/>
            </a:fld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-2" y="160938"/>
            <a:ext cx="381009" cy="638863"/>
            <a:chOff x="-2" y="120703"/>
            <a:chExt cx="285757" cy="479147"/>
          </a:xfrm>
        </p:grpSpPr>
        <p:sp>
          <p:nvSpPr>
            <p:cNvPr id="7" name="等腰三角形 6"/>
            <p:cNvSpPr/>
            <p:nvPr userDrawn="1"/>
          </p:nvSpPr>
          <p:spPr>
            <a:xfrm rot="5400000">
              <a:off x="-52804" y="173505"/>
              <a:ext cx="391362" cy="285757"/>
            </a:xfrm>
            <a:prstGeom prst="triangl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8" name="等腰三角形 7"/>
            <p:cNvSpPr/>
            <p:nvPr userDrawn="1"/>
          </p:nvSpPr>
          <p:spPr>
            <a:xfrm rot="5400000">
              <a:off x="-52804" y="261290"/>
              <a:ext cx="391362" cy="285757"/>
            </a:xfrm>
            <a:prstGeom prst="triangle">
              <a:avLst/>
            </a:prstGeom>
            <a:solidFill>
              <a:schemeClr val="bg1">
                <a:lumMod val="50000"/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11810990" y="6125265"/>
            <a:ext cx="381009" cy="638863"/>
            <a:chOff x="8858242" y="4593948"/>
            <a:chExt cx="285757" cy="479147"/>
          </a:xfrm>
        </p:grpSpPr>
        <p:sp>
          <p:nvSpPr>
            <p:cNvPr id="9" name="等腰三角形 8"/>
            <p:cNvSpPr/>
            <p:nvPr userDrawn="1"/>
          </p:nvSpPr>
          <p:spPr>
            <a:xfrm rot="16200000">
              <a:off x="8805440" y="4646750"/>
              <a:ext cx="391362" cy="285757"/>
            </a:xfrm>
            <a:prstGeom prst="triangl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0" name="等腰三角形 9"/>
            <p:cNvSpPr/>
            <p:nvPr userDrawn="1"/>
          </p:nvSpPr>
          <p:spPr>
            <a:xfrm rot="16200000">
              <a:off x="8805440" y="4734535"/>
              <a:ext cx="391362" cy="285757"/>
            </a:xfrm>
            <a:prstGeom prst="triangle">
              <a:avLst/>
            </a:prstGeom>
            <a:solidFill>
              <a:schemeClr val="bg1">
                <a:lumMod val="50000"/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pic>
        <p:nvPicPr>
          <p:cNvPr id="14" name="Picture 13" descr="A red and black sign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0582" y="300759"/>
            <a:ext cx="1960408" cy="2141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3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5BC51-A6F5-C54D-BF25-E258D518413E}" type="datetime1">
              <a:rPr lang="en-US" altLang="zh-CN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数据来源：</a:t>
            </a:r>
            <a:r>
              <a:rPr lang="en-US" altLang="zh-CN"/>
              <a:t>Yahoo Finance</a:t>
            </a:r>
            <a:r>
              <a:rPr lang="zh-CN" altLang="en-US"/>
              <a:t>、谷歌；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C0CA1-3571-4BD4-9253-723F5D1C3D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9BB3-0B64-F44C-B122-30E60D6BA56D}" type="datetime1">
              <a:rPr lang="en-US" altLang="zh-CN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数据来源：</a:t>
            </a:r>
            <a:r>
              <a:rPr lang="en-US" altLang="zh-CN"/>
              <a:t>Yahoo Finance</a:t>
            </a:r>
            <a:r>
              <a:rPr lang="zh-CN" altLang="en-US"/>
              <a:t>、谷歌；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‹#›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4078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rgbClr val="CC0000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pPr marL="12700">
              <a:spcBef>
                <a:spcPts val="180"/>
              </a:spcBef>
            </a:pPr>
            <a:r>
              <a:rPr lang="zh-CN" altLang="en-US"/>
              <a:t>数据来源：</a:t>
            </a:r>
            <a:r>
              <a:rPr lang="en-US"/>
              <a:t>Yahoo</a:t>
            </a:r>
            <a:r>
              <a:rPr lang="en-US" spc="180"/>
              <a:t> </a:t>
            </a:r>
            <a:r>
              <a:rPr lang="en-US" spc="-11"/>
              <a:t>Finance</a:t>
            </a:r>
            <a:r>
              <a:rPr lang="en-US" spc="-15"/>
              <a:t>、</a:t>
            </a:r>
            <a:r>
              <a:rPr lang="zh-CN" altLang="en-US" spc="-15"/>
              <a:t>谷歌；</a:t>
            </a:r>
            <a:endParaRPr lang="zh-CN" altLang="en-US" spc="-1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49DA7-FB48-AD40-9E83-CD6D84C1C5C2}" type="datetime1">
              <a:rPr lang="en-US" smtClean="0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等线"/>
                <a:cs typeface="等线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lang="en-US" altLang="zh-CN" spc="-25" smtClean="0"/>
            </a:fld>
            <a:endParaRPr lang="en-US" altLang="zh-CN" spc="-2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195" y="216534"/>
            <a:ext cx="7753984" cy="407891"/>
          </a:xfrm>
        </p:spPr>
        <p:txBody>
          <a:bodyPr lIns="0" tIns="0" rIns="0" bIns="0"/>
          <a:lstStyle>
            <a:lvl1pPr>
              <a:defRPr sz="2650" b="1" i="0">
                <a:solidFill>
                  <a:srgbClr val="CC0000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pPr marL="12700">
              <a:spcBef>
                <a:spcPts val="180"/>
              </a:spcBef>
            </a:pPr>
            <a:r>
              <a:rPr lang="zh-CN" altLang="en-US"/>
              <a:t>数据来源：</a:t>
            </a:r>
            <a:r>
              <a:rPr lang="en-US"/>
              <a:t>Yahoo</a:t>
            </a:r>
            <a:r>
              <a:rPr lang="en-US" spc="180"/>
              <a:t> </a:t>
            </a:r>
            <a:r>
              <a:rPr lang="en-US" spc="-11"/>
              <a:t>Finance</a:t>
            </a:r>
            <a:r>
              <a:rPr lang="en-US" spc="-15"/>
              <a:t>、</a:t>
            </a:r>
            <a:r>
              <a:rPr lang="zh-CN" altLang="en-US" spc="-15"/>
              <a:t>谷歌；</a:t>
            </a:r>
            <a:endParaRPr lang="zh-CN" altLang="en-US" spc="-1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8F101-276E-034A-9483-C95A0AEC500D}" type="datetime1">
              <a:rPr lang="en-US" smtClean="0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等线"/>
                <a:cs typeface="等线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lang="en-US" altLang="zh-CN" spc="-25" smtClean="0"/>
            </a:fld>
            <a:endParaRPr lang="en-US" altLang="zh-CN" spc="-25" dirty="0"/>
          </a:p>
        </p:txBody>
      </p:sp>
      <p:pic>
        <p:nvPicPr>
          <p:cNvPr id="7" name="Picture 6" descr="A red and black sign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0582" y="300759"/>
            <a:ext cx="1960408" cy="2141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195" y="216534"/>
            <a:ext cx="7753984" cy="407891"/>
          </a:xfrm>
        </p:spPr>
        <p:txBody>
          <a:bodyPr lIns="0" tIns="0" rIns="0" bIns="0"/>
          <a:lstStyle>
            <a:lvl1pPr>
              <a:defRPr sz="2650" b="1" i="0">
                <a:solidFill>
                  <a:srgbClr val="CC0000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1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1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pPr marL="12700">
              <a:spcBef>
                <a:spcPts val="180"/>
              </a:spcBef>
            </a:pPr>
            <a:r>
              <a:rPr lang="zh-CN" altLang="en-US"/>
              <a:t>数据来源：</a:t>
            </a:r>
            <a:r>
              <a:rPr lang="en-US"/>
              <a:t>Yahoo</a:t>
            </a:r>
            <a:r>
              <a:rPr lang="en-US" spc="180"/>
              <a:t> </a:t>
            </a:r>
            <a:r>
              <a:rPr lang="en-US" spc="-11"/>
              <a:t>Finance</a:t>
            </a:r>
            <a:r>
              <a:rPr lang="en-US" spc="-15"/>
              <a:t>、</a:t>
            </a:r>
            <a:r>
              <a:rPr lang="zh-CN" altLang="en-US" spc="-15"/>
              <a:t>谷歌；</a:t>
            </a:r>
            <a:endParaRPr lang="zh-CN" altLang="en-US" spc="-1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CDEC4-42D9-A745-A104-E8775FCA280F}" type="datetime1">
              <a:rPr lang="en-US" smtClean="0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等线"/>
                <a:cs typeface="等线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lang="en-US" altLang="zh-CN" spc="-25" smtClean="0"/>
            </a:fld>
            <a:endParaRPr lang="en-US" altLang="zh-CN" spc="-2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195" y="216534"/>
            <a:ext cx="7753984" cy="407891"/>
          </a:xfrm>
        </p:spPr>
        <p:txBody>
          <a:bodyPr lIns="0" tIns="0" rIns="0" bIns="0"/>
          <a:lstStyle>
            <a:lvl1pPr>
              <a:defRPr sz="2650" b="1" i="0">
                <a:solidFill>
                  <a:srgbClr val="CC0000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pPr marL="12700">
              <a:spcBef>
                <a:spcPts val="180"/>
              </a:spcBef>
            </a:pPr>
            <a:r>
              <a:rPr lang="zh-CN" altLang="en-US"/>
              <a:t>数据来源：</a:t>
            </a:r>
            <a:r>
              <a:rPr lang="en-US"/>
              <a:t>Yahoo</a:t>
            </a:r>
            <a:r>
              <a:rPr lang="en-US" spc="180"/>
              <a:t> </a:t>
            </a:r>
            <a:r>
              <a:rPr lang="en-US" spc="-11"/>
              <a:t>Finance</a:t>
            </a:r>
            <a:r>
              <a:rPr lang="en-US" spc="-15"/>
              <a:t>、</a:t>
            </a:r>
            <a:r>
              <a:rPr lang="zh-CN" altLang="en-US" spc="-15"/>
              <a:t>谷歌；</a:t>
            </a:r>
            <a:endParaRPr lang="zh-CN" altLang="en-US" spc="-1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E16FB-7382-A147-AB6A-66E780EBE323}" type="datetime1">
              <a:rPr lang="en-US" smtClean="0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等线"/>
                <a:cs typeface="等线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lang="en-US" altLang="zh-CN" spc="-25" smtClean="0"/>
            </a:fld>
            <a:endParaRPr lang="en-US" altLang="zh-CN" spc="-2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pPr marL="12700">
              <a:spcBef>
                <a:spcPts val="180"/>
              </a:spcBef>
            </a:pPr>
            <a:r>
              <a:rPr lang="zh-CN" altLang="en-US"/>
              <a:t>数据来源：</a:t>
            </a:r>
            <a:r>
              <a:rPr lang="en-US"/>
              <a:t>Yahoo</a:t>
            </a:r>
            <a:r>
              <a:rPr lang="en-US" spc="180"/>
              <a:t> </a:t>
            </a:r>
            <a:r>
              <a:rPr lang="en-US" spc="-11"/>
              <a:t>Finance</a:t>
            </a:r>
            <a:r>
              <a:rPr lang="en-US" spc="-15"/>
              <a:t>、</a:t>
            </a:r>
            <a:r>
              <a:rPr lang="zh-CN" altLang="en-US" spc="-15"/>
              <a:t>谷歌；</a:t>
            </a:r>
            <a:endParaRPr lang="zh-CN" altLang="en-US" spc="-1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4DC22-66A6-C74C-80A5-40D2A988EA02}" type="datetime1">
              <a:rPr lang="en-US" smtClean="0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等线"/>
                <a:cs typeface="等线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lang="en-US" altLang="zh-CN" spc="-25" smtClean="0"/>
            </a:fld>
            <a:endParaRPr lang="en-US" altLang="zh-CN" spc="-2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9F277F-1FF8-7446-B621-699D9FC7B30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C5A3B0-D8C1-CF4A-AA07-D71A803AAB7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68576" tIns="34288" rIns="68576" bIns="3428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68576" tIns="34288" rIns="68576" bIns="3428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0"/>
            <a:r>
              <a:rPr lang="zh-CN" altLang="en-US"/>
              <a:t>第二级</a:t>
            </a:r>
            <a:endParaRPr lang="zh-CN" altLang="en-US"/>
          </a:p>
          <a:p>
            <a:pPr lvl="0"/>
            <a:r>
              <a:rPr lang="zh-CN" altLang="en-US"/>
              <a:t>第三级</a:t>
            </a:r>
            <a:endParaRPr lang="zh-CN" altLang="en-US"/>
          </a:p>
          <a:p>
            <a:pPr lvl="0"/>
            <a:r>
              <a:rPr lang="zh-CN" altLang="en-US"/>
              <a:t>第四级</a:t>
            </a:r>
            <a:endParaRPr lang="zh-CN" altLang="en-US"/>
          </a:p>
          <a:p>
            <a:pPr lvl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68576" tIns="34288" rIns="68576" bIns="3428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C9BB3-0B64-F44C-B122-30E60D6BA56D}" type="datetime1">
              <a:rPr lang="en-US" altLang="zh-CN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68576" tIns="34288" rIns="68576" bIns="3428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数据来源：</a:t>
            </a:r>
            <a:r>
              <a:rPr lang="en-US" altLang="zh-CN"/>
              <a:t>Yahoo Finance</a:t>
            </a:r>
            <a:r>
              <a:rPr lang="zh-CN" altLang="en-US"/>
              <a:t>、谷歌；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68576" tIns="34288" rIns="68576" bIns="3428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‹#›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135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195" y="216535"/>
            <a:ext cx="7753984" cy="407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rgbClr val="CC0000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1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9162" y="6560355"/>
            <a:ext cx="2191385" cy="1617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pPr marL="12700">
              <a:spcBef>
                <a:spcPts val="180"/>
              </a:spcBef>
            </a:pPr>
            <a:r>
              <a:rPr lang="zh-CN" altLang="en-US"/>
              <a:t>数据来源：</a:t>
            </a:r>
            <a:r>
              <a:rPr lang="en-US"/>
              <a:t>Yahoo</a:t>
            </a:r>
            <a:r>
              <a:rPr lang="en-US" spc="180"/>
              <a:t> </a:t>
            </a:r>
            <a:r>
              <a:rPr lang="en-US" spc="-11"/>
              <a:t>Finance</a:t>
            </a:r>
            <a:r>
              <a:rPr lang="en-US" spc="-15"/>
              <a:t>、</a:t>
            </a:r>
            <a:r>
              <a:rPr lang="zh-CN" altLang="en-US" spc="-15"/>
              <a:t>谷歌；</a:t>
            </a:r>
            <a:endParaRPr lang="zh-CN" altLang="en-US" spc="-1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A180E-4F3D-D34B-AF88-A39C06399CB3}" type="datetime1">
              <a:rPr lang="en-US" smtClean="0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2461" y="6454538"/>
            <a:ext cx="251459" cy="166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等线"/>
                <a:cs typeface="等线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lang="en-US" altLang="zh-CN" spc="-25" smtClean="0"/>
            </a:fld>
            <a:endParaRPr lang="en-US" altLang="zh-CN"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image" Target="../media/image4.jpeg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5.png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-6404"/>
            <a:ext cx="12192001" cy="6858003"/>
          </a:xfrm>
          <a:prstGeom prst="rect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65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12" name="矩形 11"/>
          <p:cNvSpPr/>
          <p:nvPr/>
        </p:nvSpPr>
        <p:spPr>
          <a:xfrm rot="2700000">
            <a:off x="11023154" y="5980931"/>
            <a:ext cx="485055" cy="485055"/>
          </a:xfrm>
          <a:prstGeom prst="rect">
            <a:avLst/>
          </a:prstGeom>
          <a:solidFill>
            <a:srgbClr val="CC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65">
              <a:solidFill>
                <a:prstClr val="white"/>
              </a:solidFill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 rot="2700000">
            <a:off x="11269183" y="5998667"/>
            <a:ext cx="485055" cy="485055"/>
          </a:xfrm>
          <a:prstGeom prst="rect">
            <a:avLst/>
          </a:prstGeom>
          <a:solidFill>
            <a:srgbClr val="CC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65">
              <a:solidFill>
                <a:prstClr val="white"/>
              </a:solidFill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 rot="2700000">
            <a:off x="11068918" y="5590090"/>
            <a:ext cx="580764" cy="580764"/>
          </a:xfrm>
          <a:prstGeom prst="rect">
            <a:avLst/>
          </a:prstGeom>
          <a:solidFill>
            <a:srgbClr val="CC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65">
              <a:solidFill>
                <a:prstClr val="white"/>
              </a:solidFill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4" name="任意多边形 3"/>
          <p:cNvSpPr/>
          <p:nvPr/>
        </p:nvSpPr>
        <p:spPr>
          <a:xfrm>
            <a:off x="5188784" y="3469269"/>
            <a:ext cx="2970179" cy="3388736"/>
          </a:xfrm>
          <a:custGeom>
            <a:avLst/>
            <a:gdLst>
              <a:gd name="connsiteX0" fmla="*/ 1906622 w 2227634"/>
              <a:gd name="connsiteY0" fmla="*/ 2558375 h 2558375"/>
              <a:gd name="connsiteX1" fmla="*/ 2227634 w 2227634"/>
              <a:gd name="connsiteY1" fmla="*/ 2558375 h 2558375"/>
              <a:gd name="connsiteX2" fmla="*/ 243192 w 2227634"/>
              <a:gd name="connsiteY2" fmla="*/ 0 h 2558375"/>
              <a:gd name="connsiteX3" fmla="*/ 0 w 2227634"/>
              <a:gd name="connsiteY3" fmla="*/ 0 h 2558375"/>
              <a:gd name="connsiteX4" fmla="*/ 1906622 w 2227634"/>
              <a:gd name="connsiteY4" fmla="*/ 2558375 h 2558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7634" h="2558375">
                <a:moveTo>
                  <a:pt x="1906622" y="2558375"/>
                </a:moveTo>
                <a:lnTo>
                  <a:pt x="2227634" y="2558375"/>
                </a:lnTo>
                <a:lnTo>
                  <a:pt x="243192" y="0"/>
                </a:lnTo>
                <a:lnTo>
                  <a:pt x="0" y="0"/>
                </a:lnTo>
                <a:lnTo>
                  <a:pt x="1906622" y="2558375"/>
                </a:lnTo>
                <a:close/>
              </a:path>
            </a:pathLst>
          </a:custGeom>
          <a:solidFill>
            <a:schemeClr val="bg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65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22" name="直角三角形 21"/>
          <p:cNvSpPr/>
          <p:nvPr/>
        </p:nvSpPr>
        <p:spPr>
          <a:xfrm>
            <a:off x="0" y="-16775"/>
            <a:ext cx="7963712" cy="6858003"/>
          </a:xfrm>
          <a:custGeom>
            <a:avLst/>
            <a:gdLst>
              <a:gd name="connsiteX0" fmla="*/ 0 w 6013526"/>
              <a:gd name="connsiteY0" fmla="*/ 5143502 h 5143502"/>
              <a:gd name="connsiteX1" fmla="*/ 0 w 6013526"/>
              <a:gd name="connsiteY1" fmla="*/ 0 h 5143502"/>
              <a:gd name="connsiteX2" fmla="*/ 6013526 w 6013526"/>
              <a:gd name="connsiteY2" fmla="*/ 5143502 h 5143502"/>
              <a:gd name="connsiteX3" fmla="*/ 0 w 6013526"/>
              <a:gd name="connsiteY3" fmla="*/ 5143502 h 5143502"/>
              <a:gd name="connsiteX0-1" fmla="*/ 0 w 6013526"/>
              <a:gd name="connsiteY0-2" fmla="*/ 5143502 h 5143502"/>
              <a:gd name="connsiteX1-3" fmla="*/ 0 w 6013526"/>
              <a:gd name="connsiteY1-4" fmla="*/ 0 h 5143502"/>
              <a:gd name="connsiteX2-5" fmla="*/ 2431229 w 6013526"/>
              <a:gd name="connsiteY2-6" fmla="*/ 2097740 h 5143502"/>
              <a:gd name="connsiteX3-7" fmla="*/ 6013526 w 6013526"/>
              <a:gd name="connsiteY3-8" fmla="*/ 5143502 h 5143502"/>
              <a:gd name="connsiteX4" fmla="*/ 0 w 6013526"/>
              <a:gd name="connsiteY4" fmla="*/ 5143502 h 5143502"/>
              <a:gd name="connsiteX0-9" fmla="*/ 0 w 6013526"/>
              <a:gd name="connsiteY0-10" fmla="*/ 5143502 h 5143502"/>
              <a:gd name="connsiteX1-11" fmla="*/ 0 w 6013526"/>
              <a:gd name="connsiteY1-12" fmla="*/ 0 h 5143502"/>
              <a:gd name="connsiteX2-13" fmla="*/ 2119257 w 6013526"/>
              <a:gd name="connsiteY2-14" fmla="*/ 10757 h 5143502"/>
              <a:gd name="connsiteX3-15" fmla="*/ 6013526 w 6013526"/>
              <a:gd name="connsiteY3-16" fmla="*/ 5143502 h 5143502"/>
              <a:gd name="connsiteX4-17" fmla="*/ 0 w 6013526"/>
              <a:gd name="connsiteY4-18" fmla="*/ 5143502 h 5143502"/>
              <a:gd name="connsiteX0-19" fmla="*/ 0 w 6013526"/>
              <a:gd name="connsiteY0-20" fmla="*/ 5147834 h 5147834"/>
              <a:gd name="connsiteX1-21" fmla="*/ 0 w 6013526"/>
              <a:gd name="connsiteY1-22" fmla="*/ 4332 h 5147834"/>
              <a:gd name="connsiteX2-23" fmla="*/ 2119257 w 6013526"/>
              <a:gd name="connsiteY2-24" fmla="*/ 0 h 5147834"/>
              <a:gd name="connsiteX3-25" fmla="*/ 6013526 w 6013526"/>
              <a:gd name="connsiteY3-26" fmla="*/ 5147834 h 5147834"/>
              <a:gd name="connsiteX4-27" fmla="*/ 0 w 6013526"/>
              <a:gd name="connsiteY4-28" fmla="*/ 5147834 h 5147834"/>
              <a:gd name="connsiteX0-29" fmla="*/ 0 w 6013526"/>
              <a:gd name="connsiteY0-30" fmla="*/ 5143502 h 5143502"/>
              <a:gd name="connsiteX1-31" fmla="*/ 0 w 6013526"/>
              <a:gd name="connsiteY1-32" fmla="*/ 0 h 5143502"/>
              <a:gd name="connsiteX2-33" fmla="*/ 2113221 w 6013526"/>
              <a:gd name="connsiteY2-34" fmla="*/ 28864 h 5143502"/>
              <a:gd name="connsiteX3-35" fmla="*/ 6013526 w 6013526"/>
              <a:gd name="connsiteY3-36" fmla="*/ 5143502 h 5143502"/>
              <a:gd name="connsiteX4-37" fmla="*/ 0 w 6013526"/>
              <a:gd name="connsiteY4-38" fmla="*/ 5143502 h 5143502"/>
              <a:gd name="connsiteX0-39" fmla="*/ 0 w 6013526"/>
              <a:gd name="connsiteY0-40" fmla="*/ 5143502 h 5143502"/>
              <a:gd name="connsiteX1-41" fmla="*/ 0 w 6013526"/>
              <a:gd name="connsiteY1-42" fmla="*/ 0 h 5143502"/>
              <a:gd name="connsiteX2-43" fmla="*/ 2116239 w 6013526"/>
              <a:gd name="connsiteY2-44" fmla="*/ 1704 h 5143502"/>
              <a:gd name="connsiteX3-45" fmla="*/ 6013526 w 6013526"/>
              <a:gd name="connsiteY3-46" fmla="*/ 5143502 h 5143502"/>
              <a:gd name="connsiteX4-47" fmla="*/ 0 w 6013526"/>
              <a:gd name="connsiteY4-48" fmla="*/ 5143502 h 514350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6013526" h="5143502">
                <a:moveTo>
                  <a:pt x="0" y="5143502"/>
                </a:moveTo>
                <a:lnTo>
                  <a:pt x="0" y="0"/>
                </a:lnTo>
                <a:lnTo>
                  <a:pt x="2116239" y="1704"/>
                </a:lnTo>
                <a:lnTo>
                  <a:pt x="6013526" y="5143502"/>
                </a:lnTo>
                <a:lnTo>
                  <a:pt x="0" y="5143502"/>
                </a:lnTo>
                <a:close/>
              </a:path>
            </a:pathLst>
          </a:custGeom>
          <a:solidFill>
            <a:srgbClr val="CC0000">
              <a:alpha val="970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65">
              <a:solidFill>
                <a:prstClr val="white"/>
              </a:solidFill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85BC0CA1-3571-4BD4-9253-723F5D1C3D94}" type="slidenum">
              <a:rPr lang="zh-CN" altLang="en-US">
                <a:solidFill>
                  <a:prstClr val="black">
                    <a:tint val="75000"/>
                  </a:prstClr>
                </a:solidFill>
                <a:latin typeface="微软雅黑"/>
                <a:ea typeface="微软雅黑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微软雅黑"/>
              <a:ea typeface="微软雅黑"/>
            </a:endParaRPr>
          </a:p>
        </p:txBody>
      </p:sp>
      <p:pic>
        <p:nvPicPr>
          <p:cNvPr id="11" name="Picture 10" descr="A red and white rectangle with a city skyline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547" y="442656"/>
            <a:ext cx="9916075" cy="56757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69248" y="3812304"/>
            <a:ext cx="5506312" cy="1565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Rich Sparkle Holdings</a:t>
            </a:r>
            <a:endParaRPr lang="en-US" sz="3200" b="1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3600" dirty="0" err="1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美股对标</a:t>
            </a:r>
            <a:endParaRPr lang="en-US" sz="36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72745" y="663575"/>
            <a:ext cx="10418445" cy="1817370"/>
          </a:xfrm>
          <a:prstGeom prst="rect">
            <a:avLst/>
          </a:prstGeom>
        </p:spPr>
        <p:txBody>
          <a:bodyPr vert="horz" wrap="square" lIns="0" tIns="139065" rIns="0" bIns="0" rtlCol="0">
            <a:noAutofit/>
          </a:bodyPr>
          <a:lstStyle/>
          <a:p>
            <a:pPr marL="26670" defTabSz="914400">
              <a:spcBef>
                <a:spcPts val="1095"/>
              </a:spcBef>
            </a:pPr>
            <a:r>
              <a:rPr sz="1600" b="1" spc="-31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公司介绍：</a:t>
            </a:r>
            <a:endParaRPr sz="1600" dirty="0"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  <a:p>
            <a:pPr marL="12700" indent="0" algn="l" defTabSz="914400">
              <a:lnSpc>
                <a:spcPct val="100000"/>
              </a:lnSpc>
              <a:spcBef>
                <a:spcPts val="900"/>
              </a:spcBef>
              <a:buClrTx/>
              <a:buSzTx/>
              <a:buFont typeface="Arial" panose="020B0604020202090204"/>
              <a:buNone/>
              <a:tabLst>
                <a:tab pos="392430" algn="l"/>
              </a:tabLst>
            </a:pP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</a:rPr>
              <a:t>{{company_intro}}</a:t>
            </a:r>
            <a:endParaRPr sz="1450" dirty="0">
              <a:solidFill>
                <a:srgbClr val="931100"/>
              </a:solidFill>
              <a:latin typeface="微软雅黑"/>
              <a:ea typeface="微软雅黑"/>
            </a:endParaRPr>
          </a:p>
          <a:p>
            <a:pPr marL="26670" marR="17780" defTabSz="914400">
              <a:lnSpc>
                <a:spcPct val="152000"/>
              </a:lnSpc>
              <a:spcBef>
                <a:spcPts val="30"/>
              </a:spcBef>
            </a:pPr>
            <a:endParaRPr sz="1600" b="1" spc="-31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  <a:p>
            <a:pPr marL="26670" marR="17780" defTabSz="914400">
              <a:lnSpc>
                <a:spcPct val="152000"/>
              </a:lnSpc>
              <a:spcBef>
                <a:spcPts val="30"/>
              </a:spcBef>
            </a:pPr>
            <a:endParaRPr sz="1600" b="1" spc="-31" dirty="0" err="1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  <a:p>
            <a:pPr marL="393065" indent="-380365" algn="l" defTabSz="914400">
              <a:lnSpc>
                <a:spcPct val="100000"/>
              </a:lnSpc>
              <a:spcBef>
                <a:spcPts val="900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endParaRPr sz="1450" dirty="0">
              <a:solidFill>
                <a:srgbClr val="931100"/>
              </a:solidFill>
              <a:latin typeface="微软雅黑"/>
              <a:ea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7215" y="4543425"/>
            <a:ext cx="3778250" cy="1741805"/>
          </a:xfrm>
          <a:prstGeom prst="rect">
            <a:avLst/>
          </a:prstGeom>
        </p:spPr>
        <p:txBody>
          <a:bodyPr vert="horz" wrap="square" lIns="0" tIns="139065" rIns="0" bIns="0" rtlCol="0">
            <a:noAutofit/>
          </a:bodyPr>
          <a:lstStyle/>
          <a:p>
            <a:pPr marL="12700" indent="0" algn="l" defTabSz="914400">
              <a:spcBef>
                <a:spcPts val="900"/>
              </a:spcBef>
              <a:buClrTx/>
              <a:buSzTx/>
              <a:buFont typeface="Arial" panose="020B0604020202090204"/>
              <a:buNone/>
              <a:tabLst>
                <a:tab pos="392430" algn="l"/>
              </a:tabLst>
            </a:pPr>
            <a:r>
              <a:rPr sz="1600" b="1" spc="-31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上市与财务情况：</a:t>
            </a:r>
            <a:endParaRPr lang="en-US" altLang="zh-CN" sz="1450" dirty="0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  <a:p>
            <a:pPr marL="393065" indent="-380365" algn="l" defTabSz="914400">
              <a:spcBef>
                <a:spcPts val="900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r>
              <a:rPr lang="en-US" altLang="zh-CN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IPO时间: </a:t>
            </a: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{{ipo_date}}</a:t>
            </a:r>
            <a:endParaRPr sz="1450" dirty="0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  <a:p>
            <a:pPr marL="393065" indent="-380365" algn="l" defTabSz="914400">
              <a:spcBef>
                <a:spcPts val="900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r>
              <a:rPr lang="en-US" altLang="zh-CN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首发募集资金: $ {{ipo_fund}}</a:t>
            </a:r>
            <a:r>
              <a:rPr lang="en-US" altLang="zh-CN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 </a:t>
            </a:r>
            <a:r>
              <a:rPr lang="zh-CN" altLang="en-US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亿</a:t>
            </a:r>
            <a:endParaRPr lang="en-US" altLang="zh-CN" sz="1450" dirty="0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  <a:p>
            <a:pPr marL="393065" indent="-380365" algn="l" defTabSz="914400">
              <a:spcBef>
                <a:spcPts val="900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r>
              <a:rPr lang="en-US" altLang="zh-CN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2025年营收: $ {{revenue_2024}} </a:t>
            </a:r>
            <a:r>
              <a:rPr lang="zh-CN" altLang="en-US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亿</a:t>
            </a:r>
            <a:r>
              <a:rPr lang="en-US" altLang="zh-CN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          </a:t>
            </a:r>
            <a:endParaRPr lang="en-US" altLang="zh-CN" sz="1450" dirty="0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  <a:p>
            <a:pPr marL="393065" indent="-380365" algn="l" defTabSz="914400">
              <a:spcBef>
                <a:spcPts val="900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r>
              <a:rPr lang="zh-CN" altLang="en-US" sz="1450" spc="-51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202</a:t>
            </a:r>
            <a:r>
              <a:rPr lang="en-US" altLang="zh-CN" sz="1450" spc="-51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5</a:t>
            </a:r>
            <a:r>
              <a:rPr lang="zh-CN" altLang="en-US" sz="1450" spc="-51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年净利: </a:t>
            </a:r>
            <a:r>
              <a:rPr lang="en-US" altLang="zh-CN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 $ </a:t>
            </a: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{{</a:t>
            </a:r>
            <a:r>
              <a:rPr lang="en-US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profit</a:t>
            </a: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_</a:t>
            </a:r>
            <a:r>
              <a:rPr lang="en-US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2024</a:t>
            </a: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}}</a:t>
            </a:r>
            <a:r>
              <a:rPr lang="en-US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zh-CN" altLang="en-US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亿</a:t>
            </a:r>
            <a:endParaRPr lang="zh-CN" altLang="en-US" sz="1450" dirty="0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51170" y="4149090"/>
            <a:ext cx="3357245" cy="276225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defTabSz="914400">
              <a:spcBef>
                <a:spcPts val="95"/>
              </a:spcBef>
            </a:pPr>
            <a:r>
              <a:rPr sz="1600" b="1" spc="-31" dirty="0" err="1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上市后融资历史</a:t>
            </a:r>
            <a:r>
              <a:rPr sz="1600" b="1" spc="-31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：</a:t>
            </a:r>
            <a:endParaRPr lang="en-US" sz="1600" b="1" spc="-31" dirty="0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  <a:p>
            <a:pPr marL="393065" indent="-380365" defTabSz="914400">
              <a:spcBef>
                <a:spcPts val="995"/>
              </a:spcBef>
              <a:buFont typeface="Arial" panose="020B0604020202090204"/>
              <a:buChar char="•"/>
              <a:tabLst>
                <a:tab pos="392430" algn="l"/>
              </a:tabLst>
            </a:pPr>
            <a:r>
              <a:rPr lang="en-US" altLang="zh-CN" sz="1450" spc="-25" dirty="0">
                <a:solidFill>
                  <a:srgbClr val="931100"/>
                </a:solidFill>
                <a:latin typeface="微软雅黑"/>
                <a:ea typeface="微软雅黑"/>
              </a:rPr>
              <a:t>……</a:t>
            </a:r>
            <a:endParaRPr lang="en-US" altLang="zh-CN" sz="1450" spc="-25" dirty="0">
              <a:solidFill>
                <a:srgbClr val="931100"/>
              </a:solidFill>
              <a:latin typeface="微软雅黑"/>
              <a:ea typeface="微软雅黑"/>
            </a:endParaRPr>
          </a:p>
          <a:p>
            <a:pPr marL="393065" indent="-380365" algn="l" defTabSz="914400">
              <a:spcBef>
                <a:spcPts val="995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r>
              <a:rPr lang="en-US" altLang="zh-CN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2020年: $ {{funding_2020}} </a:t>
            </a:r>
            <a:r>
              <a:rPr lang="zh-CN" altLang="en-US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亿</a:t>
            </a:r>
            <a:endParaRPr lang="en-US" altLang="zh-CN" sz="1450" spc="-25" dirty="0">
              <a:solidFill>
                <a:srgbClr val="931100"/>
              </a:solidFill>
              <a:latin typeface="微软雅黑"/>
              <a:ea typeface="微软雅黑"/>
              <a:cs typeface="微软雅黑"/>
              <a:sym typeface="+mn-ea"/>
            </a:endParaRPr>
          </a:p>
          <a:p>
            <a:pPr marL="393065" indent="-380365" algn="l" defTabSz="914400">
              <a:spcBef>
                <a:spcPts val="995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r>
              <a:rPr lang="en-US" altLang="zh-CN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2021年: $ {{funding_2021}} </a:t>
            </a:r>
            <a:r>
              <a:rPr lang="zh-CN" altLang="en-US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亿</a:t>
            </a:r>
            <a:endParaRPr lang="en-US" altLang="zh-CN" sz="1450" spc="-25" dirty="0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  <a:p>
            <a:pPr marL="393065" indent="-380365" algn="l" defTabSz="914400">
              <a:spcBef>
                <a:spcPts val="995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r>
              <a:rPr lang="en-US" altLang="zh-CN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2022年: $ </a:t>
            </a:r>
            <a:r>
              <a:rPr lang="en-US" altLang="zh-CN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{{funding_2022}} </a:t>
            </a:r>
            <a:r>
              <a:rPr lang="zh-CN" altLang="en-US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亿</a:t>
            </a:r>
            <a:endParaRPr lang="en-US" altLang="zh-CN" sz="1450" spc="-25" dirty="0">
              <a:solidFill>
                <a:srgbClr val="931100"/>
              </a:solidFill>
              <a:latin typeface="微软雅黑"/>
              <a:ea typeface="微软雅黑"/>
              <a:cs typeface="微软雅黑"/>
              <a:sym typeface="+mn-ea"/>
            </a:endParaRPr>
          </a:p>
          <a:p>
            <a:pPr marL="393065" indent="-380365" defTabSz="914400">
              <a:spcBef>
                <a:spcPts val="995"/>
              </a:spcBef>
              <a:buFont typeface="Arial" panose="020B0604020202090204"/>
              <a:buChar char="•"/>
              <a:tabLst>
                <a:tab pos="392430" algn="l"/>
              </a:tabLst>
            </a:pPr>
            <a:r>
              <a:rPr lang="en-US" altLang="zh-CN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2023</a:t>
            </a:r>
            <a:r>
              <a:rPr lang="zh-CN" altLang="en-US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年</a:t>
            </a:r>
            <a:r>
              <a:rPr lang="en-US" altLang="zh-CN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: $ </a:t>
            </a:r>
            <a:r>
              <a:rPr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{{funding_202</a:t>
            </a:r>
            <a:r>
              <a:rPr lang="en-US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3</a:t>
            </a:r>
            <a:r>
              <a:rPr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}</a:t>
            </a:r>
            <a:r>
              <a:rPr lang="en-US" altLang="zh-CN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} </a:t>
            </a:r>
            <a:r>
              <a:rPr lang="zh-CN" altLang="en-US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亿</a:t>
            </a:r>
            <a:endParaRPr lang="zh-CN" altLang="en-US" sz="1450" spc="-25" dirty="0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  <a:p>
            <a:pPr marL="393065" indent="-380365" defTabSz="914400">
              <a:spcBef>
                <a:spcPts val="995"/>
              </a:spcBef>
              <a:buFont typeface="Arial" panose="020B0604020202090204"/>
              <a:buChar char="•"/>
              <a:tabLst>
                <a:tab pos="392430" algn="l"/>
              </a:tabLst>
            </a:pPr>
            <a:r>
              <a:rPr lang="en-US" altLang="zh-CN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2024</a:t>
            </a:r>
            <a:r>
              <a:rPr lang="zh-CN" altLang="en-US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年</a:t>
            </a:r>
            <a:r>
              <a:rPr lang="en-US" altLang="zh-CN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: $ </a:t>
            </a:r>
            <a:r>
              <a:rPr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{{funding_202</a:t>
            </a:r>
            <a:r>
              <a:rPr lang="en-US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4</a:t>
            </a:r>
            <a:r>
              <a:rPr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}}</a:t>
            </a:r>
            <a:r>
              <a:rPr lang="en-US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zh-CN" altLang="en-US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亿</a:t>
            </a:r>
            <a:endParaRPr sz="1450" spc="-25" dirty="0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  <a:p>
            <a:pPr marL="298450" indent="-285750" defTabSz="914400">
              <a:spcBef>
                <a:spcPts val="95"/>
              </a:spcBef>
              <a:buFont typeface="Arial" panose="020B0604020202090204" pitchFamily="34" charset="0"/>
              <a:buChar char="•"/>
            </a:pPr>
            <a:endParaRPr sz="1600" dirty="0"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14749948" y="8606049"/>
            <a:ext cx="335279" cy="218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600" b="0" i="0">
                <a:solidFill>
                  <a:srgbClr val="888888"/>
                </a:solidFill>
                <a:latin typeface="等线"/>
                <a:cs typeface="等线"/>
              </a:defRPr>
            </a:lvl1pPr>
          </a:lstStyle>
          <a:p>
            <a:pPr marL="50800" defTabSz="914400">
              <a:lnSpc>
                <a:spcPts val="1745"/>
              </a:lnSpc>
            </a:pPr>
            <a:fld id="{81D60167-4931-47E6-BA6A-407CBD079E47}" type="slidenum">
              <a:rPr lang="en-US" altLang="zh-CN" spc="-33">
                <a:ea typeface="微软雅黑"/>
              </a:rPr>
            </a:fld>
            <a:endParaRPr spc="-25" dirty="0">
              <a:ea typeface="微软雅黑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xfrm>
            <a:off x="372618" y="6556273"/>
            <a:ext cx="2921847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pPr marL="12700" defTabSz="914400">
              <a:spcBef>
                <a:spcPts val="180"/>
              </a:spcBef>
            </a:pPr>
            <a:r>
              <a:rPr lang="zh-CN" altLang="en-US" dirty="0">
                <a:solidFill>
                  <a:prstClr val="black"/>
                </a:solidFill>
                <a:ea typeface="微软雅黑"/>
              </a:rPr>
              <a:t>数据来源：</a:t>
            </a:r>
            <a:r>
              <a:rPr lang="en-US" dirty="0">
                <a:solidFill>
                  <a:prstClr val="black"/>
                </a:solidFill>
                <a:ea typeface="微软雅黑"/>
              </a:rPr>
              <a:t>Yahoo</a:t>
            </a:r>
            <a:r>
              <a:rPr lang="en-US" spc="240" dirty="0">
                <a:solidFill>
                  <a:prstClr val="black"/>
                </a:solidFill>
                <a:ea typeface="微软雅黑"/>
              </a:rPr>
              <a:t> </a:t>
            </a:r>
            <a:r>
              <a:rPr lang="en-US" spc="-13" dirty="0" err="1">
                <a:solidFill>
                  <a:prstClr val="black"/>
                </a:solidFill>
                <a:ea typeface="微软雅黑"/>
              </a:rPr>
              <a:t>Finance</a:t>
            </a:r>
            <a:r>
              <a:rPr lang="en-US" spc="-20" dirty="0" err="1">
                <a:solidFill>
                  <a:prstClr val="black"/>
                </a:solidFill>
                <a:ea typeface="微软雅黑"/>
              </a:rPr>
              <a:t>、万得</a:t>
            </a:r>
            <a:r>
              <a:rPr lang="zh-CN" altLang="en-US" spc="-20" dirty="0">
                <a:solidFill>
                  <a:prstClr val="black"/>
                </a:solidFill>
                <a:ea typeface="微软雅黑"/>
              </a:rPr>
              <a:t>；</a:t>
            </a:r>
            <a:endParaRPr spc="-15" dirty="0">
              <a:solidFill>
                <a:prstClr val="black"/>
              </a:solidFill>
              <a:ea typeface="微软雅黑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72617" y="161669"/>
            <a:ext cx="10036251" cy="50165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l" defTabSz="914400">
              <a:buClrTx/>
              <a:buSzTx/>
              <a:buFontTx/>
              <a:defRPr/>
            </a:pPr>
            <a:r>
              <a:rPr lang="zh-CN" altLang="en-US" sz="2665" b="1" dirty="0">
                <a:solidFill>
                  <a:srgbClr val="CC0000"/>
                </a:solidFill>
                <a:latin typeface="微软雅黑"/>
                <a:ea typeface="微软雅黑"/>
                <a:cs typeface="+mn-ea"/>
                <a:sym typeface="+mn-lt"/>
              </a:rPr>
              <a:t>IPO上市: </a:t>
            </a:r>
            <a:r>
              <a:rPr lang="zh-CN" altLang="en-US" sz="2665" b="1" dirty="0">
                <a:solidFill>
                  <a:srgbClr val="CC0000"/>
                </a:solidFill>
                <a:latin typeface="微软雅黑"/>
                <a:ea typeface="微软雅黑"/>
                <a:cs typeface="+mn-ea"/>
              </a:rPr>
              <a:t>{{company_name}}</a:t>
            </a:r>
            <a:r>
              <a:rPr lang="en-US" altLang="zh-CN" sz="2665" b="1" dirty="0">
                <a:solidFill>
                  <a:srgbClr val="CC0000"/>
                </a:solidFill>
                <a:latin typeface="微软雅黑"/>
                <a:ea typeface="微软雅黑"/>
                <a:cs typeface="+mn-ea"/>
              </a:rPr>
              <a:t>(</a:t>
            </a:r>
            <a:r>
              <a:rPr lang="zh-CN" altLang="en-US" sz="2665" b="1" dirty="0">
                <a:solidFill>
                  <a:srgbClr val="CC0000"/>
                </a:solidFill>
                <a:latin typeface="微软雅黑"/>
                <a:ea typeface="微软雅黑"/>
                <a:cs typeface="+mn-ea"/>
                <a:sym typeface="+mn-lt"/>
              </a:rPr>
              <a:t>{{</a:t>
            </a:r>
            <a:r>
              <a:rPr lang="zh-CN" altLang="en-US" sz="2665" b="1" dirty="0">
                <a:solidFill>
                  <a:srgbClr val="CC0000"/>
                </a:solidFill>
                <a:latin typeface="微软雅黑"/>
                <a:ea typeface="微软雅黑"/>
                <a:cs typeface="+mn-ea"/>
                <a:sym typeface="+mn-lt"/>
              </a:rPr>
              <a:t>ticker</a:t>
            </a:r>
            <a:r>
              <a:rPr lang="zh-CN" altLang="en-US" sz="2665" b="1" dirty="0">
                <a:solidFill>
                  <a:srgbClr val="CC0000"/>
                </a:solidFill>
                <a:latin typeface="微软雅黑"/>
                <a:ea typeface="微软雅黑"/>
                <a:cs typeface="+mn-ea"/>
                <a:sym typeface="+mn-lt"/>
              </a:rPr>
              <a:t>}}</a:t>
            </a:r>
            <a:r>
              <a:rPr lang="en-US" altLang="zh-CN" sz="2665" b="1" dirty="0">
                <a:solidFill>
                  <a:srgbClr val="CC0000"/>
                </a:solidFill>
                <a:latin typeface="微软雅黑"/>
                <a:ea typeface="微软雅黑"/>
                <a:cs typeface="+mn-ea"/>
                <a:sym typeface="+mn-lt"/>
              </a:rPr>
              <a:t>)</a:t>
            </a:r>
            <a:endParaRPr lang="en-US" altLang="zh-CN" sz="2665" b="1" dirty="0">
              <a:solidFill>
                <a:srgbClr val="CC0000"/>
              </a:solidFill>
              <a:latin typeface="微软雅黑"/>
              <a:ea typeface="微软雅黑"/>
              <a:cs typeface="+mn-ea"/>
              <a:sym typeface="+mn-lt"/>
            </a:endParaRPr>
          </a:p>
        </p:txBody>
      </p:sp>
      <p:pic>
        <p:nvPicPr>
          <p:cNvPr id="3" name="Picture 2" descr="A screenshot of a video game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3582" y="2577345"/>
            <a:ext cx="2762840" cy="27628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074785" y="5562600"/>
            <a:ext cx="2176780" cy="337185"/>
          </a:xfrm>
          <a:prstGeom prst="rect">
            <a:avLst/>
          </a:prstGeom>
          <a:solidFill>
            <a:srgbClr val="931100"/>
          </a:solidFill>
          <a:ln>
            <a:solidFill>
              <a:srgbClr val="931100"/>
            </a:solidFill>
          </a:ln>
        </p:spPr>
        <p:txBody>
          <a:bodyPr wrap="none" rtlCol="0">
            <a:noAutofit/>
          </a:bodyPr>
          <a:lstStyle/>
          <a:p>
            <a:pPr algn="l"/>
            <a:r>
              <a:rPr lang="zh-CN" altLang="en-US" sz="1600" b="1" dirty="0">
                <a:solidFill>
                  <a:schemeClr val="bg1"/>
                </a:solidFill>
              </a:rPr>
              <a:t>注：市值较</a:t>
            </a:r>
            <a:r>
              <a:rPr lang="en-US" altLang="zh-CN" sz="1600" b="1" dirty="0">
                <a:solidFill>
                  <a:schemeClr val="bg1"/>
                </a:solidFill>
              </a:rPr>
              <a:t>{{</a:t>
            </a:r>
            <a:r>
              <a:rPr lang="zh-CN" altLang="en-US" sz="1600" b="1" dirty="0">
                <a:solidFill>
                  <a:schemeClr val="bg1"/>
                </a:solidFill>
              </a:rPr>
              <a:t>market_cap_level</a:t>
            </a:r>
            <a:r>
              <a:rPr lang="en-US" altLang="zh-CN" sz="1600" b="1" dirty="0">
                <a:solidFill>
                  <a:schemeClr val="bg1"/>
                </a:solidFill>
              </a:rPr>
              <a:t>}}</a:t>
            </a:r>
            <a:r>
              <a:rPr lang="zh-CN" altLang="en-US" sz="1600" b="1" dirty="0">
                <a:solidFill>
                  <a:schemeClr val="bg1"/>
                </a:solidFill>
              </a:rPr>
              <a:t>案例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9740" y="2874645"/>
            <a:ext cx="348107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2700" indent="0" algn="l" defTabSz="914400">
              <a:lnSpc>
                <a:spcPct val="100000"/>
              </a:lnSpc>
              <a:spcBef>
                <a:spcPts val="900"/>
              </a:spcBef>
              <a:buClrTx/>
              <a:buSzTx/>
              <a:buFont typeface="Arial" panose="020B0604020202090204"/>
              <a:buNone/>
              <a:tabLst>
                <a:tab pos="392430" algn="l"/>
              </a:tabLst>
            </a:pPr>
            <a:r>
              <a:rPr sz="1600" b="1" spc="-31" dirty="0" err="1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最新股市表现</a:t>
            </a: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：</a:t>
            </a:r>
            <a:endParaRPr sz="1450" dirty="0">
              <a:solidFill>
                <a:srgbClr val="931100"/>
              </a:solidFill>
              <a:latin typeface="微软雅黑"/>
              <a:ea typeface="微软雅黑"/>
            </a:endParaRPr>
          </a:p>
          <a:p>
            <a:pPr marL="393065" indent="-380365" algn="l" defTabSz="914400">
              <a:spcBef>
                <a:spcPts val="900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最新股价:</a:t>
            </a:r>
            <a:r>
              <a:rPr lang="en-US"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$</a:t>
            </a: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 {{latest_price}}</a:t>
            </a:r>
            <a:endParaRPr sz="1450" dirty="0">
              <a:solidFill>
                <a:srgbClr val="931100"/>
              </a:solidFill>
              <a:latin typeface="微软雅黑"/>
              <a:ea typeface="微软雅黑"/>
            </a:endParaRPr>
          </a:p>
          <a:p>
            <a:pPr marL="393065" indent="-380365" algn="l" defTabSz="914400">
              <a:spcBef>
                <a:spcPts val="900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最新市值:</a:t>
            </a:r>
            <a:r>
              <a:rPr lang="en-US"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$ </a:t>
            </a: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{{market_cap}}</a:t>
            </a:r>
            <a:r>
              <a:rPr lang="en-US"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 </a:t>
            </a:r>
            <a:r>
              <a:rPr lang="zh-CN" altLang="en-US"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亿</a:t>
            </a:r>
            <a:endParaRPr sz="1450" dirty="0">
              <a:solidFill>
                <a:srgbClr val="931100"/>
              </a:solidFill>
              <a:latin typeface="微软雅黑"/>
              <a:ea typeface="微软雅黑"/>
            </a:endParaRPr>
          </a:p>
          <a:p>
            <a:pPr marL="393065" indent="-380365" algn="l" defTabSz="914400">
              <a:spcBef>
                <a:spcPts val="900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PE</a:t>
            </a:r>
            <a:r>
              <a:rPr sz="1450" baseline="3000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TTM</a:t>
            </a: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 : {{pe_ttm}}</a:t>
            </a:r>
            <a:r>
              <a:rPr lang="en-US"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 x</a:t>
            </a:r>
            <a:endParaRPr sz="1450" dirty="0">
              <a:solidFill>
                <a:srgbClr val="931100"/>
              </a:solidFill>
              <a:latin typeface="微软雅黑"/>
              <a:ea typeface="微软雅黑"/>
            </a:endParaRPr>
          </a:p>
          <a:p>
            <a:pPr marL="393065" indent="-380365" algn="l" defTabSz="914400">
              <a:spcBef>
                <a:spcPts val="900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PS</a:t>
            </a:r>
            <a:r>
              <a:rPr sz="1450" baseline="3000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TTM</a:t>
            </a: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 : {{ps_ttm}}</a:t>
            </a:r>
            <a:r>
              <a:rPr lang="en-US"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 </a:t>
            </a:r>
            <a:r>
              <a:rPr lang="en-US"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x</a:t>
            </a:r>
            <a:endParaRPr lang="en-US" sz="1450" dirty="0">
              <a:solidFill>
                <a:srgbClr val="931100"/>
              </a:solidFill>
              <a:latin typeface="微软雅黑"/>
              <a:ea typeface="微软雅黑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857990" y="313055"/>
            <a:ext cx="4064000" cy="337185"/>
          </a:xfrm>
          <a:prstGeom prst="rect">
            <a:avLst/>
          </a:prstGeom>
          <a:solidFill>
            <a:srgbClr val="931100"/>
          </a:solidFill>
          <a:ln>
            <a:solidFill>
              <a:srgbClr val="931100"/>
            </a:solidFill>
          </a:ln>
        </p:spPr>
        <p:txBody>
          <a:bodyPr wrap="square" rtlCol="0">
            <a:spAutoFit/>
          </a:bodyPr>
          <a:p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2" name="object 5"/>
          <p:cNvSpPr txBox="1"/>
          <p:nvPr>
            <p:custDataLst>
              <p:tags r:id="rId2"/>
            </p:custDataLst>
          </p:nvPr>
        </p:nvSpPr>
        <p:spPr>
          <a:xfrm>
            <a:off x="3294380" y="5562600"/>
            <a:ext cx="3778250" cy="812165"/>
          </a:xfrm>
          <a:prstGeom prst="rect">
            <a:avLst/>
          </a:prstGeom>
        </p:spPr>
        <p:txBody>
          <a:bodyPr vert="horz" wrap="square" lIns="0" tIns="139065" rIns="0" bIns="0" rtlCol="0">
            <a:noAutofit/>
          </a:bodyPr>
          <a:p>
            <a:pPr marL="393065" indent="-380365" algn="l" defTabSz="914400">
              <a:spcBef>
                <a:spcPts val="900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r>
              <a:rPr lang="zh-CN" altLang="en-US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上市当年</a:t>
            </a:r>
            <a:r>
              <a:rPr lang="en-US" altLang="zh-CN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营收: $  </a:t>
            </a:r>
            <a:r>
              <a:rPr lang="zh-CN" altLang="en-US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亿</a:t>
            </a:r>
            <a:r>
              <a:rPr lang="en-US" altLang="zh-CN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          </a:t>
            </a:r>
            <a:endParaRPr lang="en-US" altLang="zh-CN" sz="1450" dirty="0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  <a:p>
            <a:pPr marL="393065" indent="-380365" algn="l" defTabSz="914400">
              <a:spcBef>
                <a:spcPts val="900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r>
              <a:rPr lang="zh-CN" altLang="en-US" sz="1450" spc="-51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上市</a:t>
            </a:r>
            <a:r>
              <a:rPr lang="zh-CN" altLang="en-US" sz="1450" spc="-51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当年净利: </a:t>
            </a:r>
            <a:r>
              <a:rPr lang="en-US" altLang="zh-CN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 $ </a:t>
            </a:r>
            <a:r>
              <a:rPr lang="en-US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zh-CN" altLang="en-US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亿</a:t>
            </a:r>
            <a:endParaRPr lang="zh-CN" altLang="en-US" sz="1450" dirty="0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4749948" y="8606049"/>
            <a:ext cx="335279" cy="218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600" b="0" i="0">
                <a:solidFill>
                  <a:srgbClr val="888888"/>
                </a:solidFill>
                <a:latin typeface="等线"/>
                <a:cs typeface="等线"/>
              </a:defRPr>
            </a:lvl1pPr>
          </a:lstStyle>
          <a:p>
            <a:pPr marL="50800" defTabSz="914400">
              <a:lnSpc>
                <a:spcPts val="1745"/>
              </a:lnSpc>
            </a:pPr>
            <a:fld id="{81D60167-4931-47E6-BA6A-407CBD079E47}" type="slidenum">
              <a:rPr lang="en-US" altLang="zh-CN" spc="-33">
                <a:ea typeface="微软雅黑"/>
              </a:rPr>
            </a:fld>
            <a:endParaRPr spc="-25" dirty="0">
              <a:ea typeface="微软雅黑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377962" y="6551373"/>
            <a:ext cx="2921847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pPr marL="12700" defTabSz="914400">
              <a:spcBef>
                <a:spcPts val="180"/>
              </a:spcBef>
            </a:pPr>
            <a:r>
              <a:rPr lang="zh-CN" altLang="en-US" dirty="0">
                <a:solidFill>
                  <a:prstClr val="black"/>
                </a:solidFill>
                <a:ea typeface="微软雅黑"/>
              </a:rPr>
              <a:t>数据来源：</a:t>
            </a:r>
            <a:r>
              <a:rPr lang="en-US" dirty="0">
                <a:solidFill>
                  <a:prstClr val="black"/>
                </a:solidFill>
                <a:ea typeface="微软雅黑"/>
              </a:rPr>
              <a:t>Yahoo</a:t>
            </a:r>
            <a:r>
              <a:rPr lang="en-US" spc="240" dirty="0">
                <a:solidFill>
                  <a:prstClr val="black"/>
                </a:solidFill>
                <a:ea typeface="微软雅黑"/>
              </a:rPr>
              <a:t> </a:t>
            </a:r>
            <a:r>
              <a:rPr lang="en-US" spc="-13" dirty="0">
                <a:solidFill>
                  <a:prstClr val="black"/>
                </a:solidFill>
                <a:ea typeface="微软雅黑"/>
              </a:rPr>
              <a:t>Finance</a:t>
            </a:r>
            <a:r>
              <a:rPr lang="en-US" spc="-20" dirty="0">
                <a:solidFill>
                  <a:prstClr val="black"/>
                </a:solidFill>
                <a:ea typeface="微软雅黑"/>
              </a:rPr>
              <a:t>、</a:t>
            </a:r>
            <a:r>
              <a:rPr lang="zh-CN" altLang="en-US" spc="-20" dirty="0">
                <a:solidFill>
                  <a:prstClr val="black"/>
                </a:solidFill>
                <a:ea typeface="微软雅黑"/>
              </a:rPr>
              <a:t>万得；</a:t>
            </a:r>
            <a:endParaRPr spc="-15" dirty="0">
              <a:solidFill>
                <a:prstClr val="black"/>
              </a:solidFill>
              <a:ea typeface="微软雅黑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65392" y="195453"/>
            <a:ext cx="10036251" cy="50165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l" defTabSz="914400">
              <a:buClrTx/>
              <a:buSzTx/>
              <a:buFontTx/>
              <a:defRPr/>
            </a:pPr>
            <a:r>
              <a:rPr lang="en-US" altLang="zh-CN" sz="2665" b="1" dirty="0">
                <a:solidFill>
                  <a:srgbClr val="CC0000"/>
                </a:solidFill>
                <a:latin typeface="微软雅黑"/>
                <a:ea typeface="微软雅黑"/>
                <a:cs typeface="+mn-ea"/>
                <a:sym typeface="+mn-lt"/>
              </a:rPr>
              <a:t>SPAC</a:t>
            </a:r>
            <a:r>
              <a:rPr lang="zh-CN" altLang="en-US" sz="2665" b="1" dirty="0">
                <a:solidFill>
                  <a:srgbClr val="CC0000"/>
                </a:solidFill>
                <a:latin typeface="微软雅黑"/>
                <a:ea typeface="微软雅黑"/>
                <a:cs typeface="+mn-ea"/>
                <a:sym typeface="+mn-lt"/>
              </a:rPr>
              <a:t>上市</a:t>
            </a:r>
            <a:r>
              <a:rPr lang="en-US" altLang="zh-CN" sz="2665" b="1" dirty="0">
                <a:solidFill>
                  <a:srgbClr val="CC0000"/>
                </a:solidFill>
                <a:latin typeface="微软雅黑"/>
                <a:ea typeface="微软雅黑"/>
                <a:cs typeface="+mn-ea"/>
                <a:sym typeface="+mn-lt"/>
              </a:rPr>
              <a:t>:</a:t>
            </a:r>
            <a:r>
              <a:rPr lang="zh-CN" altLang="en-US" sz="2665" b="1" dirty="0">
                <a:solidFill>
                  <a:srgbClr val="CC0000"/>
                </a:solidFill>
                <a:latin typeface="微软雅黑"/>
                <a:ea typeface="微软雅黑"/>
                <a:cs typeface="+mn-ea"/>
                <a:sym typeface="+mn-ea"/>
              </a:rPr>
              <a:t>{{company_name}}</a:t>
            </a:r>
            <a:r>
              <a:rPr lang="en-US" altLang="zh-CN" sz="2665" b="1" dirty="0">
                <a:solidFill>
                  <a:srgbClr val="CC0000"/>
                </a:solidFill>
                <a:latin typeface="微软雅黑"/>
                <a:ea typeface="微软雅黑"/>
                <a:cs typeface="+mn-ea"/>
                <a:sym typeface="+mn-ea"/>
              </a:rPr>
              <a:t>(</a:t>
            </a:r>
            <a:r>
              <a:rPr lang="zh-CN" altLang="en-US" sz="2665" b="1" dirty="0">
                <a:solidFill>
                  <a:srgbClr val="CC0000"/>
                </a:solidFill>
                <a:latin typeface="微软雅黑"/>
                <a:ea typeface="微软雅黑"/>
                <a:cs typeface="+mn-ea"/>
                <a:sym typeface="+mn-lt"/>
              </a:rPr>
              <a:t>{{ticker}}</a:t>
            </a:r>
            <a:r>
              <a:rPr lang="en-US" altLang="zh-CN" sz="2665" b="1" dirty="0">
                <a:solidFill>
                  <a:srgbClr val="CC0000"/>
                </a:solidFill>
                <a:latin typeface="微软雅黑"/>
                <a:ea typeface="微软雅黑"/>
                <a:cs typeface="+mn-ea"/>
                <a:sym typeface="+mn-lt"/>
              </a:rPr>
              <a:t>)</a:t>
            </a:r>
            <a:endParaRPr lang="en-US" altLang="zh-CN" sz="2665" b="1" dirty="0">
              <a:solidFill>
                <a:srgbClr val="CC0000"/>
              </a:solidFill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09817" y="5620442"/>
            <a:ext cx="2398987" cy="338554"/>
          </a:xfrm>
          <a:prstGeom prst="rect">
            <a:avLst/>
          </a:prstGeom>
          <a:solidFill>
            <a:srgbClr val="931100"/>
          </a:solidFill>
          <a:ln>
            <a:solidFill>
              <a:srgbClr val="9311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</a:rPr>
              <a:t>注：相近行业</a:t>
            </a:r>
            <a:r>
              <a:rPr lang="en-US" altLang="zh-CN" sz="1600" b="1" dirty="0">
                <a:solidFill>
                  <a:schemeClr val="bg1"/>
                </a:solidFill>
              </a:rPr>
              <a:t>SPAC</a:t>
            </a:r>
            <a:r>
              <a:rPr lang="zh-CN" altLang="en-US" sz="1600" b="1" dirty="0">
                <a:solidFill>
                  <a:schemeClr val="bg1"/>
                </a:solidFill>
              </a:rPr>
              <a:t>案例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object 4"/>
          <p:cNvSpPr txBox="1"/>
          <p:nvPr>
            <p:custDataLst>
              <p:tags r:id="rId1"/>
            </p:custDataLst>
          </p:nvPr>
        </p:nvSpPr>
        <p:spPr>
          <a:xfrm>
            <a:off x="372745" y="663575"/>
            <a:ext cx="10418445" cy="1817370"/>
          </a:xfrm>
          <a:prstGeom prst="rect">
            <a:avLst/>
          </a:prstGeom>
        </p:spPr>
        <p:txBody>
          <a:bodyPr vert="horz" wrap="square" lIns="0" tIns="139065" rIns="0" bIns="0" rtlCol="0">
            <a:noAutofit/>
          </a:bodyPr>
          <a:lstStyle/>
          <a:p>
            <a:pPr marL="26670" defTabSz="914400">
              <a:spcBef>
                <a:spcPts val="1095"/>
              </a:spcBef>
            </a:pPr>
            <a:r>
              <a:rPr sz="1600" b="1" spc="-31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公司介绍：</a:t>
            </a:r>
            <a:endParaRPr sz="1600" dirty="0"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  <a:p>
            <a:pPr marL="12700" indent="0" algn="l" defTabSz="914400">
              <a:lnSpc>
                <a:spcPct val="100000"/>
              </a:lnSpc>
              <a:spcBef>
                <a:spcPts val="900"/>
              </a:spcBef>
              <a:buClrTx/>
              <a:buSzTx/>
              <a:buFont typeface="Arial" panose="020B0604020202090204"/>
              <a:buNone/>
              <a:tabLst>
                <a:tab pos="392430" algn="l"/>
              </a:tabLst>
            </a:pP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</a:rPr>
              <a:t>{{company_intro}}</a:t>
            </a:r>
            <a:endParaRPr sz="1450" dirty="0">
              <a:solidFill>
                <a:srgbClr val="931100"/>
              </a:solidFill>
              <a:latin typeface="微软雅黑"/>
              <a:ea typeface="微软雅黑"/>
            </a:endParaRPr>
          </a:p>
          <a:p>
            <a:pPr marL="26670" marR="17780" defTabSz="914400">
              <a:lnSpc>
                <a:spcPct val="152000"/>
              </a:lnSpc>
              <a:spcBef>
                <a:spcPts val="30"/>
              </a:spcBef>
            </a:pPr>
            <a:endParaRPr sz="1600" b="1" spc="-31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  <a:p>
            <a:pPr marL="26670" marR="17780" defTabSz="914400">
              <a:lnSpc>
                <a:spcPct val="152000"/>
              </a:lnSpc>
              <a:spcBef>
                <a:spcPts val="30"/>
              </a:spcBef>
            </a:pPr>
            <a:endParaRPr sz="1600" b="1" spc="-31" dirty="0" err="1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  <a:p>
            <a:pPr marL="393065" indent="-380365" algn="l" defTabSz="914400">
              <a:lnSpc>
                <a:spcPct val="100000"/>
              </a:lnSpc>
              <a:spcBef>
                <a:spcPts val="900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endParaRPr sz="1450" dirty="0">
              <a:solidFill>
                <a:srgbClr val="931100"/>
              </a:solidFill>
              <a:latin typeface="微软雅黑"/>
              <a:ea typeface="微软雅黑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459740" y="2874645"/>
            <a:ext cx="348107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2700" algn="l" defTabSz="914400">
              <a:lnSpc>
                <a:spcPct val="100000"/>
              </a:lnSpc>
              <a:spcBef>
                <a:spcPts val="1095"/>
              </a:spcBef>
              <a:buClrTx/>
              <a:buSzTx/>
              <a:buFontTx/>
              <a:buNone/>
            </a:pPr>
            <a:r>
              <a:rPr sz="1600" b="1" spc="-31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最新股市表现：</a:t>
            </a:r>
            <a:endParaRPr sz="1600" b="1" spc="-31" dirty="0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  <a:p>
            <a:pPr marL="393065" indent="-380365" algn="l" defTabSz="914400">
              <a:spcBef>
                <a:spcPts val="900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最新股价: {{latest_price}}</a:t>
            </a:r>
            <a:endParaRPr sz="1450" dirty="0">
              <a:solidFill>
                <a:srgbClr val="931100"/>
              </a:solidFill>
              <a:latin typeface="微软雅黑"/>
              <a:ea typeface="微软雅黑"/>
            </a:endParaRPr>
          </a:p>
          <a:p>
            <a:pPr marL="393065" indent="-380365" algn="l" defTabSz="914400">
              <a:spcBef>
                <a:spcPts val="900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最新市值: {{market_cap}}</a:t>
            </a:r>
            <a:r>
              <a:rPr lang="en-US"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 </a:t>
            </a:r>
            <a:r>
              <a:rPr lang="zh-CN" altLang="en-US"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亿</a:t>
            </a:r>
            <a:endParaRPr sz="1450" dirty="0">
              <a:solidFill>
                <a:srgbClr val="931100"/>
              </a:solidFill>
              <a:latin typeface="微软雅黑"/>
              <a:ea typeface="微软雅黑"/>
            </a:endParaRPr>
          </a:p>
          <a:p>
            <a:pPr marL="393065" indent="-380365" algn="l" defTabSz="914400">
              <a:spcBef>
                <a:spcPts val="900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PE</a:t>
            </a:r>
            <a:r>
              <a:rPr sz="1450" baseline="3000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TTM</a:t>
            </a: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 : {{pe_ttm}}</a:t>
            </a:r>
            <a:r>
              <a:rPr lang="en-US"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 x</a:t>
            </a:r>
            <a:endParaRPr sz="1450" dirty="0">
              <a:solidFill>
                <a:srgbClr val="931100"/>
              </a:solidFill>
              <a:latin typeface="微软雅黑"/>
              <a:ea typeface="微软雅黑"/>
            </a:endParaRPr>
          </a:p>
          <a:p>
            <a:pPr marL="393065" indent="-380365" algn="l" defTabSz="914400">
              <a:spcBef>
                <a:spcPts val="900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PS</a:t>
            </a:r>
            <a:r>
              <a:rPr sz="1450" baseline="3000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TTM</a:t>
            </a: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 : {{ps_ttm}}</a:t>
            </a:r>
            <a:r>
              <a:rPr lang="en-US"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 </a:t>
            </a:r>
            <a:r>
              <a:rPr lang="en-US"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x</a:t>
            </a:r>
            <a:endParaRPr lang="en-US" sz="1450" dirty="0">
              <a:solidFill>
                <a:srgbClr val="931100"/>
              </a:solidFill>
              <a:latin typeface="微软雅黑"/>
              <a:ea typeface="微软雅黑"/>
              <a:sym typeface="+mn-ea"/>
            </a:endParaRPr>
          </a:p>
        </p:txBody>
      </p:sp>
      <p:sp>
        <p:nvSpPr>
          <p:cNvPr id="14" name="object 5"/>
          <p:cNvSpPr txBox="1"/>
          <p:nvPr>
            <p:custDataLst>
              <p:tags r:id="rId3"/>
            </p:custDataLst>
          </p:nvPr>
        </p:nvSpPr>
        <p:spPr>
          <a:xfrm>
            <a:off x="551180" y="4461510"/>
            <a:ext cx="3919855" cy="2239010"/>
          </a:xfrm>
          <a:prstGeom prst="rect">
            <a:avLst/>
          </a:prstGeom>
        </p:spPr>
        <p:txBody>
          <a:bodyPr vert="horz" wrap="square" lIns="0" tIns="139065" rIns="0" bIns="0" rtlCol="0">
            <a:noAutofit/>
          </a:bodyPr>
          <a:p>
            <a:pPr marL="12700" indent="0" algn="l" defTabSz="914400">
              <a:spcBef>
                <a:spcPts val="900"/>
              </a:spcBef>
              <a:buClrTx/>
              <a:buSzTx/>
              <a:buFont typeface="Arial" panose="020B0604020202090204"/>
              <a:buNone/>
              <a:tabLst>
                <a:tab pos="392430" algn="l"/>
              </a:tabLst>
            </a:pPr>
            <a:r>
              <a:rPr sz="1600" b="1" spc="-31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上市与财务情况：</a:t>
            </a:r>
            <a:endParaRPr sz="1600" b="1" spc="-31" dirty="0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  <a:p>
            <a:pPr marL="298450" indent="-285750" algn="l" defTabSz="914400">
              <a:spcBef>
                <a:spcPts val="900"/>
              </a:spcBef>
              <a:buClrTx/>
              <a:buSzTx/>
              <a:buFont typeface="Arial" panose="020B0604020202090204" pitchFamily="34" charset="0"/>
              <a:buChar char="•"/>
              <a:tabLst>
                <a:tab pos="392430" algn="l"/>
              </a:tabLst>
            </a:pPr>
            <a:r>
              <a:rPr lang="en-US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  </a:t>
            </a:r>
            <a:r>
              <a:rPr sz="1450" spc="-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合并上市时间</a:t>
            </a:r>
            <a:r>
              <a:rPr lang="en-US" altLang="zh-CN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: </a:t>
            </a: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{{</a:t>
            </a:r>
            <a:r>
              <a:rPr lang="en-US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ipo</a:t>
            </a: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_date}}</a:t>
            </a:r>
            <a:endParaRPr sz="1450" dirty="0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  <a:p>
            <a:pPr marL="298450" indent="-285750" algn="l" defTabSz="914400">
              <a:spcBef>
                <a:spcPts val="900"/>
              </a:spcBef>
              <a:buClrTx/>
              <a:buSzTx/>
              <a:buFont typeface="Arial" panose="020B0604020202090204" pitchFamily="34" charset="0"/>
              <a:buChar char="•"/>
              <a:tabLst>
                <a:tab pos="392430" algn="l"/>
              </a:tabLst>
            </a:pPr>
            <a:r>
              <a:rPr lang="en-US" sz="1450" spc="-4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  </a:t>
            </a:r>
            <a:r>
              <a:rPr sz="1450" spc="-4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SPAC</a:t>
            </a:r>
            <a:r>
              <a:rPr sz="1450" spc="2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规模: </a:t>
            </a: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$</a:t>
            </a:r>
            <a:r>
              <a:rPr lang="en-US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 {{spac</a:t>
            </a: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_size</a:t>
            </a:r>
            <a:r>
              <a:rPr lang="en-US"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}}</a:t>
            </a:r>
            <a:endParaRPr lang="en-US" sz="1450" dirty="0">
              <a:solidFill>
                <a:srgbClr val="931100"/>
              </a:solidFill>
              <a:latin typeface="微软雅黑"/>
              <a:ea typeface="微软雅黑"/>
              <a:cs typeface="微软雅黑"/>
              <a:sym typeface="+mn-ea"/>
            </a:endParaRPr>
          </a:p>
          <a:p>
            <a:pPr marL="393065" indent="-380365" defTabSz="914400">
              <a:spcBef>
                <a:spcPts val="900"/>
              </a:spcBef>
              <a:buFont typeface="Arial" panose="020B0604020202090204"/>
              <a:buChar char="•"/>
              <a:tabLst>
                <a:tab pos="392430" algn="l"/>
              </a:tabLst>
            </a:pP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合并估值: $</a:t>
            </a:r>
            <a:r>
              <a:rPr lang="en-US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 {{merger_valuation}}</a:t>
            </a:r>
            <a:endParaRPr lang="en-US" sz="1450" dirty="0">
              <a:solidFill>
                <a:srgbClr val="931100"/>
              </a:solidFill>
              <a:latin typeface="微软雅黑"/>
              <a:ea typeface="微软雅黑"/>
              <a:cs typeface="微软雅黑"/>
              <a:sym typeface="+mn-ea"/>
            </a:endParaRPr>
          </a:p>
          <a:p>
            <a:pPr marL="393065" indent="-380365" algn="l" defTabSz="914400">
              <a:spcBef>
                <a:spcPts val="900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r>
              <a:rPr lang="en-US" altLang="zh-CN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2025年营收: $ {{revenue_2024}} </a:t>
            </a:r>
            <a:r>
              <a:rPr lang="zh-CN" altLang="en-US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亿</a:t>
            </a:r>
            <a:r>
              <a:rPr lang="en-US" altLang="zh-CN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           </a:t>
            </a:r>
            <a:endParaRPr lang="en-US" altLang="zh-CN" sz="1450" dirty="0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  <a:p>
            <a:pPr marL="393065" indent="-380365" algn="l" defTabSz="914400">
              <a:spcBef>
                <a:spcPts val="900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r>
              <a:rPr lang="zh-CN" altLang="en-US" sz="1450" spc="-51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202</a:t>
            </a:r>
            <a:r>
              <a:rPr lang="en-US" altLang="zh-CN" sz="1450" spc="-51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5</a:t>
            </a:r>
            <a:r>
              <a:rPr lang="zh-CN" altLang="en-US" sz="1450" spc="-51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年净利: </a:t>
            </a:r>
            <a:r>
              <a:rPr lang="en-US" altLang="zh-CN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 $ </a:t>
            </a: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{{</a:t>
            </a:r>
            <a:r>
              <a:rPr lang="en-US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profit</a:t>
            </a: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_</a:t>
            </a:r>
            <a:r>
              <a:rPr lang="en-US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2024</a:t>
            </a: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}}</a:t>
            </a:r>
            <a:r>
              <a:rPr lang="en-US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 </a:t>
            </a:r>
            <a:r>
              <a:rPr lang="zh-CN" altLang="en-US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亿</a:t>
            </a:r>
            <a:endParaRPr lang="zh-CN" altLang="en-US" sz="1450" dirty="0">
              <a:solidFill>
                <a:srgbClr val="931100"/>
              </a:solidFill>
              <a:latin typeface="微软雅黑"/>
              <a:ea typeface="微软雅黑"/>
              <a:cs typeface="微软雅黑"/>
              <a:sym typeface="+mn-ea"/>
            </a:endParaRPr>
          </a:p>
        </p:txBody>
      </p:sp>
      <p:sp>
        <p:nvSpPr>
          <p:cNvPr id="17" name="object 5"/>
          <p:cNvSpPr txBox="1"/>
          <p:nvPr>
            <p:custDataLst>
              <p:tags r:id="rId4"/>
            </p:custDataLst>
          </p:nvPr>
        </p:nvSpPr>
        <p:spPr>
          <a:xfrm>
            <a:off x="3058160" y="5201920"/>
            <a:ext cx="2638425" cy="417830"/>
          </a:xfrm>
          <a:prstGeom prst="rect">
            <a:avLst/>
          </a:prstGeom>
        </p:spPr>
        <p:txBody>
          <a:bodyPr vert="horz" wrap="square" lIns="0" tIns="139065" rIns="0" bIns="0" rtlCol="0">
            <a:noAutofit/>
          </a:bodyPr>
          <a:p>
            <a:pPr marL="12700" indent="0" algn="l" defTabSz="914400">
              <a:spcBef>
                <a:spcPts val="900"/>
              </a:spcBef>
              <a:buClrTx/>
              <a:buSzTx/>
              <a:buFont typeface="Arial" panose="020B0604020202090204" pitchFamily="34" charset="0"/>
              <a:buNone/>
              <a:tabLst>
                <a:tab pos="392430" algn="l"/>
              </a:tabLst>
            </a:pPr>
            <a:r>
              <a:rPr lang="en-US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  </a:t>
            </a:r>
            <a:r>
              <a:rPr lang="en-US" sz="1450" spc="-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PIPE</a:t>
            </a:r>
            <a:r>
              <a:rPr lang="zh-CN" sz="1450" spc="-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融资：</a:t>
            </a:r>
            <a:r>
              <a:rPr lang="en-US" altLang="zh-CN" sz="1450" spc="-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$ </a:t>
            </a:r>
            <a:r>
              <a:rPr sz="1450" dirty="0">
                <a:solidFill>
                  <a:srgbClr val="931100"/>
                </a:solidFill>
                <a:latin typeface="微软雅黑"/>
                <a:ea typeface="微软雅黑"/>
                <a:sym typeface="+mn-ea"/>
              </a:rPr>
              <a:t>{{latest_price}}</a:t>
            </a:r>
            <a:endParaRPr sz="1450" dirty="0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Picture 2" descr="A screenshot of a video game&#10;&#10;Description automatically generated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7862" y="2611635"/>
            <a:ext cx="2762840" cy="2762840"/>
          </a:xfrm>
          <a:prstGeom prst="rect">
            <a:avLst/>
          </a:prstGeom>
        </p:spPr>
      </p:pic>
      <p:sp>
        <p:nvSpPr>
          <p:cNvPr id="6" name="object 6"/>
          <p:cNvSpPr txBox="1"/>
          <p:nvPr>
            <p:custDataLst>
              <p:tags r:id="rId7"/>
            </p:custDataLst>
          </p:nvPr>
        </p:nvSpPr>
        <p:spPr>
          <a:xfrm>
            <a:off x="5581650" y="4149090"/>
            <a:ext cx="3357245" cy="276225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p>
            <a:pPr marL="12700" defTabSz="914400">
              <a:spcBef>
                <a:spcPts val="95"/>
              </a:spcBef>
            </a:pPr>
            <a:r>
              <a:rPr sz="1600" b="1" spc="-31" dirty="0" err="1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上市后融资历史</a:t>
            </a:r>
            <a:r>
              <a:rPr sz="1600" b="1" spc="-31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：</a:t>
            </a:r>
            <a:endParaRPr lang="en-US" sz="1600" b="1" spc="-31" dirty="0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  <a:p>
            <a:pPr marL="393065" indent="-380365" defTabSz="914400">
              <a:spcBef>
                <a:spcPts val="995"/>
              </a:spcBef>
              <a:buFont typeface="Arial" panose="020B0604020202090204"/>
              <a:buChar char="•"/>
              <a:tabLst>
                <a:tab pos="392430" algn="l"/>
              </a:tabLst>
            </a:pPr>
            <a:r>
              <a:rPr lang="en-US" altLang="zh-CN" sz="1450" spc="-25" dirty="0">
                <a:solidFill>
                  <a:srgbClr val="931100"/>
                </a:solidFill>
                <a:latin typeface="微软雅黑"/>
                <a:ea typeface="微软雅黑"/>
              </a:rPr>
              <a:t>……</a:t>
            </a:r>
            <a:endParaRPr lang="en-US" altLang="zh-CN" sz="1450" spc="-25" dirty="0">
              <a:solidFill>
                <a:srgbClr val="931100"/>
              </a:solidFill>
              <a:latin typeface="微软雅黑"/>
              <a:ea typeface="微软雅黑"/>
            </a:endParaRPr>
          </a:p>
          <a:p>
            <a:pPr marL="393065" indent="-380365" algn="l" defTabSz="914400">
              <a:spcBef>
                <a:spcPts val="995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r>
              <a:rPr lang="en-US" altLang="zh-CN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2020年: $ {{funding_2020}} </a:t>
            </a:r>
            <a:r>
              <a:rPr lang="zh-CN" altLang="en-US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亿</a:t>
            </a:r>
            <a:endParaRPr lang="en-US" altLang="zh-CN" sz="1450" spc="-25" dirty="0">
              <a:solidFill>
                <a:srgbClr val="931100"/>
              </a:solidFill>
              <a:latin typeface="微软雅黑"/>
              <a:ea typeface="微软雅黑"/>
              <a:cs typeface="微软雅黑"/>
              <a:sym typeface="+mn-ea"/>
            </a:endParaRPr>
          </a:p>
          <a:p>
            <a:pPr marL="393065" indent="-380365" algn="l" defTabSz="914400">
              <a:spcBef>
                <a:spcPts val="995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r>
              <a:rPr lang="en-US" altLang="zh-CN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2021年: $ {{funding_2021}} </a:t>
            </a:r>
            <a:r>
              <a:rPr lang="zh-CN" altLang="en-US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亿</a:t>
            </a:r>
            <a:endParaRPr lang="en-US" altLang="zh-CN" sz="1450" spc="-25" dirty="0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  <a:p>
            <a:pPr marL="393065" indent="-380365" algn="l" defTabSz="914400">
              <a:spcBef>
                <a:spcPts val="995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r>
              <a:rPr lang="en-US" altLang="zh-CN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2022年: $ </a:t>
            </a:r>
            <a:r>
              <a:rPr lang="en-US" altLang="zh-CN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{{funding_2022}} </a:t>
            </a:r>
            <a:r>
              <a:rPr lang="zh-CN" altLang="en-US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亿</a:t>
            </a:r>
            <a:endParaRPr lang="en-US" altLang="zh-CN" sz="1450" spc="-25" dirty="0">
              <a:solidFill>
                <a:srgbClr val="931100"/>
              </a:solidFill>
              <a:latin typeface="微软雅黑"/>
              <a:ea typeface="微软雅黑"/>
              <a:cs typeface="微软雅黑"/>
              <a:sym typeface="+mn-ea"/>
            </a:endParaRPr>
          </a:p>
          <a:p>
            <a:pPr marL="393065" indent="-380365" defTabSz="914400">
              <a:spcBef>
                <a:spcPts val="995"/>
              </a:spcBef>
              <a:buFont typeface="Arial" panose="020B0604020202090204"/>
              <a:buChar char="•"/>
              <a:tabLst>
                <a:tab pos="392430" algn="l"/>
              </a:tabLst>
            </a:pPr>
            <a:r>
              <a:rPr lang="en-US" altLang="zh-CN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2023</a:t>
            </a:r>
            <a:r>
              <a:rPr lang="zh-CN" altLang="en-US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年</a:t>
            </a:r>
            <a:r>
              <a:rPr lang="en-US" altLang="zh-CN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: $ </a:t>
            </a:r>
            <a:r>
              <a:rPr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{{funding_202</a:t>
            </a:r>
            <a:r>
              <a:rPr lang="en-US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3</a:t>
            </a:r>
            <a:r>
              <a:rPr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}</a:t>
            </a:r>
            <a:r>
              <a:rPr lang="en-US" altLang="zh-CN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} </a:t>
            </a:r>
            <a:r>
              <a:rPr lang="zh-CN" altLang="en-US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亿</a:t>
            </a:r>
            <a:endParaRPr lang="zh-CN" altLang="en-US" sz="1450" spc="-25" dirty="0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  <a:p>
            <a:pPr marL="393065" indent="-380365" defTabSz="914400">
              <a:spcBef>
                <a:spcPts val="995"/>
              </a:spcBef>
              <a:buFont typeface="Arial" panose="020B0604020202090204"/>
              <a:buChar char="•"/>
              <a:tabLst>
                <a:tab pos="392430" algn="l"/>
              </a:tabLst>
            </a:pPr>
            <a:r>
              <a:rPr lang="en-US" altLang="zh-CN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2024</a:t>
            </a:r>
            <a:r>
              <a:rPr lang="zh-CN" altLang="en-US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年</a:t>
            </a:r>
            <a:r>
              <a:rPr lang="en-US" altLang="zh-CN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: $ </a:t>
            </a:r>
            <a:r>
              <a:rPr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{{funding_202</a:t>
            </a:r>
            <a:r>
              <a:rPr lang="en-US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4</a:t>
            </a:r>
            <a:r>
              <a:rPr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}}</a:t>
            </a:r>
            <a:r>
              <a:rPr lang="en-US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zh-CN" altLang="en-US" sz="1450" spc="-25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亿</a:t>
            </a:r>
            <a:endParaRPr sz="1450" spc="-25" dirty="0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  <a:p>
            <a:pPr marL="298450" indent="-285750" defTabSz="914400">
              <a:spcBef>
                <a:spcPts val="95"/>
              </a:spcBef>
              <a:buFont typeface="Arial" panose="020B0604020202090204" pitchFamily="34" charset="0"/>
              <a:buChar char="•"/>
            </a:pPr>
            <a:endParaRPr sz="1600" dirty="0"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object 5"/>
          <p:cNvSpPr txBox="1"/>
          <p:nvPr>
            <p:custDataLst>
              <p:tags r:id="rId8"/>
            </p:custDataLst>
          </p:nvPr>
        </p:nvSpPr>
        <p:spPr>
          <a:xfrm>
            <a:off x="3300095" y="5840730"/>
            <a:ext cx="3778250" cy="859790"/>
          </a:xfrm>
          <a:prstGeom prst="rect">
            <a:avLst/>
          </a:prstGeom>
        </p:spPr>
        <p:txBody>
          <a:bodyPr vert="horz" wrap="square" lIns="0" tIns="139065" rIns="0" bIns="0" rtlCol="0">
            <a:noAutofit/>
          </a:bodyPr>
          <a:p>
            <a:pPr marL="393065" indent="-380365" algn="l" defTabSz="914400">
              <a:spcBef>
                <a:spcPts val="900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r>
              <a:rPr lang="zh-CN" altLang="en-US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上市当年</a:t>
            </a:r>
            <a:r>
              <a:rPr lang="en-US" altLang="zh-CN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营收: $  </a:t>
            </a:r>
            <a:r>
              <a:rPr lang="zh-CN" altLang="en-US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亿</a:t>
            </a:r>
            <a:r>
              <a:rPr lang="en-US" altLang="zh-CN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          </a:t>
            </a:r>
            <a:endParaRPr lang="en-US" altLang="zh-CN" sz="1450" dirty="0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  <a:p>
            <a:pPr marL="393065" indent="-380365" algn="l" defTabSz="914400">
              <a:spcBef>
                <a:spcPts val="900"/>
              </a:spcBef>
              <a:buClrTx/>
              <a:buSzTx/>
              <a:buFont typeface="Arial" panose="020B0604020202090204"/>
              <a:buChar char="•"/>
              <a:tabLst>
                <a:tab pos="392430" algn="l"/>
              </a:tabLst>
            </a:pPr>
            <a:r>
              <a:rPr lang="zh-CN" altLang="en-US" sz="1450" spc="-51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上市</a:t>
            </a:r>
            <a:r>
              <a:rPr lang="zh-CN" altLang="en-US" sz="1450" spc="-51" dirty="0">
                <a:solidFill>
                  <a:srgbClr val="931100"/>
                </a:solidFill>
                <a:latin typeface="微软雅黑"/>
                <a:ea typeface="微软雅黑"/>
                <a:cs typeface="微软雅黑"/>
                <a:sym typeface="+mn-ea"/>
              </a:rPr>
              <a:t>当年净利: </a:t>
            </a:r>
            <a:r>
              <a:rPr lang="en-US" altLang="zh-CN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 $ </a:t>
            </a:r>
            <a:r>
              <a:rPr lang="en-US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zh-CN" altLang="en-US" sz="1450" dirty="0">
                <a:solidFill>
                  <a:srgbClr val="931100"/>
                </a:solidFill>
                <a:latin typeface="微软雅黑"/>
                <a:ea typeface="微软雅黑"/>
                <a:cs typeface="微软雅黑"/>
              </a:rPr>
              <a:t>亿</a:t>
            </a:r>
            <a:endParaRPr lang="zh-CN" altLang="en-US" sz="1450" dirty="0">
              <a:solidFill>
                <a:srgbClr val="93110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911" y="224409"/>
            <a:ext cx="3393440" cy="422040"/>
          </a:xfrm>
          <a:prstGeom prst="rect">
            <a:avLst/>
          </a:prstGeom>
        </p:spPr>
        <p:txBody>
          <a:bodyPr vert="horz" wrap="square" lIns="0" tIns="13971" rIns="0" bIns="0" rtlCol="0">
            <a:spAutoFit/>
          </a:bodyPr>
          <a:lstStyle/>
          <a:p>
            <a:pPr algn="l" defTabSz="914400" rtl="0">
              <a:spcBef>
                <a:spcPts val="110"/>
              </a:spcBef>
              <a:defRPr/>
            </a:pPr>
            <a:r>
              <a:rPr sz="2665" kern="1200" dirty="0">
                <a:ea typeface="微软雅黑"/>
                <a:cs typeface="+mn-ea"/>
              </a:rPr>
              <a:t>可比公司相关数据汇总</a:t>
            </a:r>
            <a:endParaRPr sz="2665" kern="1200" dirty="0">
              <a:ea typeface="微软雅黑"/>
              <a:cs typeface="+mn-ea"/>
            </a:endParaRPr>
          </a:p>
        </p:txBody>
      </p:sp>
      <p:sp>
        <p:nvSpPr>
          <p:cNvPr id="5" name="object 10"/>
          <p:cNvSpPr txBox="1"/>
          <p:nvPr/>
        </p:nvSpPr>
        <p:spPr>
          <a:xfrm>
            <a:off x="372618" y="6556273"/>
            <a:ext cx="2921847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 kern="0"/>
            </a:defPPr>
            <a:lvl1pPr marL="0" algn="l" defTabSz="914400" rtl="0" eaLnBrk="1" latinLnBrk="0" hangingPunct="1">
              <a:defRPr sz="1400" b="0" i="0" kern="1200">
                <a:solidFill>
                  <a:schemeClr val="tx1"/>
                </a:solidFill>
                <a:latin typeface="微软雅黑"/>
                <a:ea typeface="+mn-ea"/>
                <a:cs typeface="微软雅黑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defTabSz="914400">
              <a:spcBef>
                <a:spcPts val="180"/>
              </a:spcBef>
            </a:pPr>
            <a:r>
              <a:rPr lang="zh-CN" altLang="en-US">
                <a:solidFill>
                  <a:prstClr val="black"/>
                </a:solidFill>
                <a:ea typeface="微软雅黑"/>
              </a:rPr>
              <a:t>数据来源：</a:t>
            </a:r>
            <a:r>
              <a:rPr lang="en-US">
                <a:solidFill>
                  <a:prstClr val="black"/>
                </a:solidFill>
                <a:ea typeface="微软雅黑"/>
              </a:rPr>
              <a:t>Yahoo</a:t>
            </a:r>
            <a:r>
              <a:rPr lang="en-US" spc="240">
                <a:solidFill>
                  <a:prstClr val="black"/>
                </a:solidFill>
                <a:ea typeface="微软雅黑"/>
              </a:rPr>
              <a:t> </a:t>
            </a:r>
            <a:r>
              <a:rPr lang="en-US" spc="-13">
                <a:solidFill>
                  <a:prstClr val="black"/>
                </a:solidFill>
                <a:ea typeface="微软雅黑"/>
              </a:rPr>
              <a:t>Finance</a:t>
            </a:r>
            <a:r>
              <a:rPr lang="en-US" spc="-20">
                <a:solidFill>
                  <a:prstClr val="black"/>
                </a:solidFill>
                <a:ea typeface="微软雅黑"/>
              </a:rPr>
              <a:t>、</a:t>
            </a:r>
            <a:r>
              <a:rPr lang="zh-CN" altLang="en-US" spc="-20">
                <a:solidFill>
                  <a:prstClr val="black"/>
                </a:solidFill>
                <a:ea typeface="微软雅黑"/>
              </a:rPr>
              <a:t>万得；</a:t>
            </a:r>
            <a:endParaRPr lang="zh-CN" altLang="en-US" spc="-15" dirty="0">
              <a:solidFill>
                <a:prstClr val="black"/>
              </a:solidFill>
              <a:ea typeface="微软雅黑"/>
            </a:endParaRPr>
          </a:p>
        </p:txBody>
      </p:sp>
      <p:pic>
        <p:nvPicPr>
          <p:cNvPr id="6" name="Picture 5" descr="市值_PS_TTM_可视化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32891" y="640577"/>
            <a:ext cx="9926217" cy="59256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518650" y="3787140"/>
            <a:ext cx="9074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平均</a:t>
            </a:r>
            <a:r>
              <a:rPr lang="en-US" altLang="zh-CN" sz="1000" b="1"/>
              <a:t>ps:4.80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1" y="1"/>
            <a:ext cx="12192001" cy="6858003"/>
          </a:xfrm>
          <a:prstGeom prst="rect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65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10" name="矩形 9"/>
          <p:cNvSpPr/>
          <p:nvPr/>
        </p:nvSpPr>
        <p:spPr>
          <a:xfrm flipH="1">
            <a:off x="0" y="-2"/>
            <a:ext cx="12192000" cy="6858003"/>
          </a:xfrm>
          <a:prstGeom prst="rect">
            <a:avLst/>
          </a:prstGeom>
          <a:solidFill>
            <a:srgbClr val="CC000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65">
              <a:solidFill>
                <a:prstClr val="white"/>
              </a:solidFill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6" name="文本框 13"/>
          <p:cNvSpPr txBox="1"/>
          <p:nvPr/>
        </p:nvSpPr>
        <p:spPr>
          <a:xfrm>
            <a:off x="4137746" y="2691855"/>
            <a:ext cx="3916508" cy="107721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35" tIns="45717" rIns="91435" bIns="45717" rtlCol="0">
            <a:spAutoFit/>
          </a:bodyPr>
          <a:lstStyle/>
          <a:p>
            <a:pPr algn="ctr" defTabSz="914400"/>
            <a:r>
              <a:rPr lang="zh-CN" altLang="en-US" sz="6400" b="1" dirty="0">
                <a:solidFill>
                  <a:prstClr val="white"/>
                </a:solidFill>
                <a:latin typeface="微软雅黑"/>
                <a:ea typeface="微软雅黑"/>
                <a:cs typeface="+mn-ea"/>
                <a:sym typeface="+mn-lt"/>
              </a:rPr>
              <a:t>谢谢聆听</a:t>
            </a:r>
            <a:endParaRPr lang="zh-CN" altLang="en-US" sz="6400" b="1" dirty="0">
              <a:solidFill>
                <a:prstClr val="white"/>
              </a:solidFill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089612" y="3645536"/>
            <a:ext cx="4012777" cy="3077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35" tIns="45717" rIns="91435" bIns="45717">
            <a:spAutoFit/>
          </a:bodyPr>
          <a:lstStyle/>
          <a:p>
            <a:pPr algn="ctr" defTabSz="914400"/>
            <a:r>
              <a:rPr lang="en-US" altLang="zh-CN" sz="1400">
                <a:solidFill>
                  <a:prstClr val="white"/>
                </a:solidFill>
                <a:latin typeface="微软雅黑"/>
                <a:ea typeface="微软雅黑"/>
                <a:cs typeface="+mn-ea"/>
                <a:sym typeface="+mn-lt"/>
              </a:rPr>
              <a:t>THANKS FOR YOUR ATTENTION</a:t>
            </a:r>
            <a:endParaRPr lang="zh-CN" altLang="en-US" sz="1400" dirty="0">
              <a:solidFill>
                <a:prstClr val="white"/>
              </a:solidFill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85BC0CA1-3571-4BD4-9253-723F5D1C3D94}" type="slidenum">
              <a:rPr lang="zh-CN" altLang="en-US">
                <a:solidFill>
                  <a:prstClr val="black">
                    <a:tint val="75000"/>
                  </a:prstClr>
                </a:solidFill>
                <a:latin typeface="微软雅黑"/>
                <a:ea typeface="微软雅黑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微软雅黑"/>
              <a:ea typeface="微软雅黑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964" y="6042898"/>
            <a:ext cx="4979635" cy="4204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p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rgbClr val="931100"/>
        </a:solidFill>
        <a:ln>
          <a:solidFill>
            <a:srgbClr val="931100"/>
          </a:solidFill>
        </a:ln>
      </a:spPr>
      <a:bodyPr wrap="square" rtlCol="0">
        <a:spAutoFit/>
      </a:bodyPr>
      <a:lstStyle>
        <a:defPPr>
          <a:defRPr lang="zh-CN" altLang="en-US" sz="1600" b="1" dirty="0">
            <a:solidFill>
              <a:schemeClr val="bg1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1138</Words>
  <Application>WPS 演示</Application>
  <PresentationFormat>Widescreen</PresentationFormat>
  <Paragraphs>96</Paragraphs>
  <Slides>5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汉仪旗黑</vt:lpstr>
      <vt:lpstr>等线</vt:lpstr>
      <vt:lpstr>汉仪中等线KW</vt:lpstr>
      <vt:lpstr>Microsoft YaHei UI</vt:lpstr>
      <vt:lpstr>苹方-简</vt:lpstr>
      <vt:lpstr>Calibri</vt:lpstr>
      <vt:lpstr>Helvetica Neue</vt:lpstr>
      <vt:lpstr>Arial</vt:lpstr>
      <vt:lpstr>微软雅黑</vt:lpstr>
      <vt:lpstr>宋体</vt:lpstr>
      <vt:lpstr>Arial Unicode MS</vt:lpstr>
      <vt:lpstr>Aptos</vt:lpstr>
      <vt:lpstr>汉仪书宋二KW</vt:lpstr>
      <vt:lpstr>Aptos Display</vt:lpstr>
      <vt:lpstr>Office Theme</vt:lpstr>
      <vt:lpstr>Office 主题</vt:lpstr>
      <vt:lpstr>1_Office Theme</vt:lpstr>
      <vt:lpstr>PowerPoint 演示文稿</vt:lpstr>
      <vt:lpstr>PowerPoint 演示文稿</vt:lpstr>
      <vt:lpstr>PowerPoint 演示文稿</vt:lpstr>
      <vt:lpstr>可比公司相关数据汇总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 Zhong</dc:creator>
  <cp:lastModifiedBy>临渊渊</cp:lastModifiedBy>
  <cp:revision>50</cp:revision>
  <dcterms:created xsi:type="dcterms:W3CDTF">2026-03-10T08:44:00Z</dcterms:created>
  <dcterms:modified xsi:type="dcterms:W3CDTF">2026-03-10T08:44:00Z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DFD3E9564EA1A65DA4FB7669EEF00F3F_43</vt:lpwstr>
  </property>
  <property fmtid="{D5CDD505-2E9C-101B-9397-08002B2CF9AE}" pid="3" name="KSOProductBuildVer">
    <vt:lpwstr>2052-6.4.0.8550</vt:lpwstr>
  </property>
</Properties>
</file>